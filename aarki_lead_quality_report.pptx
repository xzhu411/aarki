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70" r:id="rId3"/>
    <p:sldId id="257" r:id="rId4"/>
    <p:sldId id="258" r:id="rId5"/>
    <p:sldId id="259" r:id="rId6"/>
    <p:sldId id="260" r:id="rId7"/>
    <p:sldId id="261" r:id="rId8"/>
    <p:sldId id="262" r:id="rId9"/>
    <p:sldId id="263" r:id="rId10"/>
    <p:sldId id="264" r:id="rId11"/>
    <p:sldId id="267" r:id="rId12"/>
    <p:sldId id="268" r:id="rId13"/>
    <p:sldId id="269" r:id="rId14"/>
    <p:sldId id="265" r:id="rId15"/>
    <p:sldId id="271" r:id="rId16"/>
    <p:sldId id="266" r:id="rId17"/>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28"/>
    <p:restoredTop sz="94610"/>
  </p:normalViewPr>
  <p:slideViewPr>
    <p:cSldViewPr snapToGrid="0" snapToObjects="1">
      <p:cViewPr varScale="1">
        <p:scale>
          <a:sx n="119" d="100"/>
          <a:sy n="119" d="100"/>
        </p:scale>
        <p:origin x="29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3786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0115C-293A-E8D6-933E-5D61B27C96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6A1D5-BC55-C1B8-09F0-AABB112C55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5B72F-86D4-FDD2-A58A-2AE4F516F8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1A4E97-81B8-4E25-87A7-17744C682E5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509970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C5E63-7CD4-1565-16A9-4690FE70AB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F8DE28-0575-A466-E679-722EADE166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2FDD4-F661-D086-B5C8-50813B4308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D3D91A-6599-CD4A-9BB7-1CC4B78010E8}"/>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643522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xzhu411/Aarki.gi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xzhu411/Aarki.git"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xzhu411.github.io/Aarki/state_quality_map.html"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6858000" cy="73152"/>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0" y="2560320"/>
            <a:ext cx="164592" cy="292608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457200" y="2651760"/>
            <a:ext cx="5943600" cy="548640"/>
          </a:xfrm>
          <a:prstGeom prst="rect">
            <a:avLst/>
          </a:prstGeom>
          <a:noFill/>
          <a:ln/>
        </p:spPr>
        <p:txBody>
          <a:bodyPr wrap="square" lIns="0" tIns="0" rIns="0" bIns="0" rtlCol="0" anchor="ctr"/>
          <a:lstStyle/>
          <a:p>
            <a:pPr marL="0" indent="0">
              <a:buNone/>
            </a:pPr>
            <a:r>
              <a:rPr lang="en-US" sz="2800" b="1" kern="0" spc="300" dirty="0">
                <a:solidFill>
                  <a:srgbClr val="FFFFFF"/>
                </a:solidFill>
                <a:latin typeface="Calibri" pitchFamily="34" charset="0"/>
                <a:ea typeface="Calibri" pitchFamily="34" charset="-122"/>
                <a:cs typeface="Calibri" pitchFamily="34" charset="-120"/>
              </a:rPr>
              <a:t>LEAD QUALITY ANALYSIS</a:t>
            </a:r>
            <a:endParaRPr lang="en-US" sz="2800" dirty="0"/>
          </a:p>
        </p:txBody>
      </p:sp>
      <p:sp>
        <p:nvSpPr>
          <p:cNvPr id="5" name="Text 3"/>
          <p:cNvSpPr/>
          <p:nvPr/>
        </p:nvSpPr>
        <p:spPr>
          <a:xfrm>
            <a:off x="457200" y="3246120"/>
            <a:ext cx="5943600" cy="365760"/>
          </a:xfrm>
          <a:prstGeom prst="rect">
            <a:avLst/>
          </a:prstGeom>
          <a:noFill/>
          <a:ln/>
        </p:spPr>
        <p:txBody>
          <a:bodyPr wrap="square" lIns="0" tIns="0" rIns="0" bIns="0" rtlCol="0" anchor="ctr"/>
          <a:lstStyle/>
          <a:p>
            <a:pPr marL="0" indent="0">
              <a:buNone/>
            </a:pPr>
            <a:r>
              <a:rPr lang="en-US" sz="1400" dirty="0">
                <a:solidFill>
                  <a:srgbClr val="A8C8D0"/>
                </a:solidFill>
                <a:latin typeface="Calibri" pitchFamily="34" charset="0"/>
                <a:ea typeface="Calibri" pitchFamily="34" charset="-122"/>
                <a:cs typeface="Calibri" pitchFamily="34" charset="-120"/>
              </a:rPr>
              <a:t>Aarki Analyst Take-Home Assignment</a:t>
            </a:r>
            <a:endParaRPr lang="en-US" sz="1400" dirty="0"/>
          </a:p>
        </p:txBody>
      </p:sp>
      <p:sp>
        <p:nvSpPr>
          <p:cNvPr id="6" name="Shape 4"/>
          <p:cNvSpPr/>
          <p:nvPr/>
        </p:nvSpPr>
        <p:spPr>
          <a:xfrm>
            <a:off x="457200" y="3703320"/>
            <a:ext cx="3200400" cy="0"/>
          </a:xfrm>
          <a:prstGeom prst="line">
            <a:avLst/>
          </a:prstGeom>
          <a:noFill/>
          <a:ln w="19050">
            <a:solidFill>
              <a:srgbClr val="028090"/>
            </a:solidFill>
            <a:prstDash val="solid"/>
          </a:ln>
        </p:spPr>
        <p:txBody>
          <a:bodyPr/>
          <a:lstStyle/>
          <a:p>
            <a:endParaRPr lang="en-US"/>
          </a:p>
        </p:txBody>
      </p:sp>
      <p:sp>
        <p:nvSpPr>
          <p:cNvPr id="7" name="Text 5"/>
          <p:cNvSpPr/>
          <p:nvPr/>
        </p:nvSpPr>
        <p:spPr>
          <a:xfrm>
            <a:off x="457200" y="3840480"/>
            <a:ext cx="5943600" cy="274320"/>
          </a:xfrm>
          <a:prstGeom prst="rect">
            <a:avLst/>
          </a:prstGeom>
          <a:noFill/>
          <a:ln/>
        </p:spPr>
        <p:txBody>
          <a:bodyPr wrap="square" lIns="0" tIns="0" rIns="0" bIns="0" rtlCol="0" anchor="ctr"/>
          <a:lstStyle/>
          <a:p>
            <a:pPr marL="0" indent="0">
              <a:buNone/>
            </a:pPr>
            <a:r>
              <a:rPr lang="en-US" sz="1000" b="1" dirty="0">
                <a:solidFill>
                  <a:srgbClr val="A8C8D0"/>
                </a:solidFill>
                <a:latin typeface="Calibri" pitchFamily="34" charset="0"/>
                <a:ea typeface="Calibri" pitchFamily="34" charset="-122"/>
                <a:cs typeface="Calibri" pitchFamily="34" charset="-120"/>
              </a:rPr>
              <a:t>Dataset: </a:t>
            </a:r>
            <a:r>
              <a:rPr lang="en-US" sz="1000" dirty="0">
                <a:solidFill>
                  <a:srgbClr val="A8C8D0"/>
                </a:solidFill>
                <a:latin typeface="Calibri" pitchFamily="34" charset="0"/>
                <a:ea typeface="Calibri" pitchFamily="34" charset="-122"/>
                <a:cs typeface="Calibri" pitchFamily="34" charset="-120"/>
              </a:rPr>
              <a:t>3,021 leads  |  Apr – Sep 2009</a:t>
            </a:r>
            <a:endParaRPr lang="en-US" sz="1000" dirty="0"/>
          </a:p>
        </p:txBody>
      </p:sp>
      <p:sp>
        <p:nvSpPr>
          <p:cNvPr id="8" name="Text 6"/>
          <p:cNvSpPr/>
          <p:nvPr/>
        </p:nvSpPr>
        <p:spPr>
          <a:xfrm>
            <a:off x="457200" y="4133088"/>
            <a:ext cx="5943600" cy="274320"/>
          </a:xfrm>
          <a:prstGeom prst="rect">
            <a:avLst/>
          </a:prstGeom>
          <a:noFill/>
          <a:ln/>
        </p:spPr>
        <p:txBody>
          <a:bodyPr wrap="square" lIns="0" tIns="0" rIns="0" bIns="0" rtlCol="0" anchor="ctr"/>
          <a:lstStyle/>
          <a:p>
            <a:pPr marL="0" indent="0">
              <a:buNone/>
            </a:pPr>
            <a:r>
              <a:rPr lang="en-US" sz="1000" b="1" dirty="0">
                <a:solidFill>
                  <a:srgbClr val="A8C8D0"/>
                </a:solidFill>
                <a:latin typeface="Calibri" pitchFamily="34" charset="0"/>
                <a:ea typeface="Calibri" pitchFamily="34" charset="-122"/>
                <a:cs typeface="Calibri" pitchFamily="34" charset="-120"/>
              </a:rPr>
              <a:t>Baseline quality rate: </a:t>
            </a:r>
            <a:r>
              <a:rPr lang="en-US" sz="1000" dirty="0">
                <a:solidFill>
                  <a:srgbClr val="A8C8D0"/>
                </a:solidFill>
                <a:latin typeface="Calibri" pitchFamily="34" charset="0"/>
                <a:ea typeface="Calibri" pitchFamily="34" charset="-122"/>
                <a:cs typeface="Calibri" pitchFamily="34" charset="-120"/>
              </a:rPr>
              <a:t>13.0%  |  Target: 15.6% (×1.2)</a:t>
            </a:r>
            <a:endParaRPr lang="en-US" sz="1000" dirty="0"/>
          </a:p>
        </p:txBody>
      </p:sp>
      <p:sp>
        <p:nvSpPr>
          <p:cNvPr id="9" name="Shape 7"/>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0" name="Text 6">
            <a:extLst>
              <a:ext uri="{FF2B5EF4-FFF2-40B4-BE49-F238E27FC236}">
                <a16:creationId xmlns:a16="http://schemas.microsoft.com/office/drawing/2014/main" id="{70A0633B-8E6A-AB41-0CF4-09B31A952865}"/>
              </a:ext>
            </a:extLst>
          </p:cNvPr>
          <p:cNvSpPr/>
          <p:nvPr/>
        </p:nvSpPr>
        <p:spPr>
          <a:xfrm>
            <a:off x="457200" y="4407408"/>
            <a:ext cx="5943600" cy="274320"/>
          </a:xfrm>
          <a:prstGeom prst="rect">
            <a:avLst/>
          </a:prstGeom>
          <a:noFill/>
          <a:ln/>
        </p:spPr>
        <p:txBody>
          <a:bodyPr wrap="square" lIns="0" tIns="0" rIns="0" bIns="0" rtlCol="0" anchor="ctr"/>
          <a:lstStyle/>
          <a:p>
            <a:pPr marL="0" indent="0">
              <a:buNone/>
            </a:pPr>
            <a:r>
              <a:rPr lang="en-US" sz="1000" b="1" dirty="0">
                <a:solidFill>
                  <a:srgbClr val="A8C8D0"/>
                </a:solidFill>
                <a:latin typeface="Calibri" pitchFamily="34" charset="0"/>
                <a:ea typeface="Calibri" pitchFamily="34" charset="-122"/>
                <a:cs typeface="Calibri" pitchFamily="34" charset="-120"/>
              </a:rPr>
              <a:t>Xiaoai Zhu</a:t>
            </a:r>
            <a:endParaRPr lang="en-US" sz="1000" dirty="0"/>
          </a:p>
        </p:txBody>
      </p:sp>
      <p:sp>
        <p:nvSpPr>
          <p:cNvPr id="11" name="Text 6">
            <a:extLst>
              <a:ext uri="{FF2B5EF4-FFF2-40B4-BE49-F238E27FC236}">
                <a16:creationId xmlns:a16="http://schemas.microsoft.com/office/drawing/2014/main" id="{80A72E21-7DFC-A46F-9BDF-2A794609F7A2}"/>
              </a:ext>
            </a:extLst>
          </p:cNvPr>
          <p:cNvSpPr/>
          <p:nvPr/>
        </p:nvSpPr>
        <p:spPr>
          <a:xfrm>
            <a:off x="457200" y="4681728"/>
            <a:ext cx="5943600" cy="274320"/>
          </a:xfrm>
          <a:prstGeom prst="rect">
            <a:avLst/>
          </a:prstGeom>
          <a:noFill/>
          <a:ln/>
        </p:spPr>
        <p:txBody>
          <a:bodyPr wrap="square" lIns="0" tIns="0" rIns="0" bIns="0" rtlCol="0" anchor="ctr"/>
          <a:lstStyle/>
          <a:p>
            <a:pPr marL="0" indent="0">
              <a:buNone/>
            </a:pPr>
            <a:r>
              <a:rPr lang="en-US" sz="1000" b="1" dirty="0">
                <a:solidFill>
                  <a:srgbClr val="A8C8D0"/>
                </a:solidFill>
                <a:latin typeface="Calibri" pitchFamily="34" charset="0"/>
                <a:ea typeface="Calibri" pitchFamily="34" charset="-122"/>
                <a:cs typeface="Calibri" pitchFamily="34" charset="-120"/>
              </a:rPr>
              <a:t>Fiona.zhu0906@gmail.com</a:t>
            </a:r>
            <a:endParaRPr lang="en-US" sz="1000" dirty="0"/>
          </a:p>
        </p:txBody>
      </p:sp>
      <p:sp>
        <p:nvSpPr>
          <p:cNvPr id="12" name="Text 6">
            <a:extLst>
              <a:ext uri="{FF2B5EF4-FFF2-40B4-BE49-F238E27FC236}">
                <a16:creationId xmlns:a16="http://schemas.microsoft.com/office/drawing/2014/main" id="{EB4AD80C-17B6-5DB5-4FFC-0233C02B3FD2}"/>
              </a:ext>
            </a:extLst>
          </p:cNvPr>
          <p:cNvSpPr/>
          <p:nvPr/>
        </p:nvSpPr>
        <p:spPr>
          <a:xfrm>
            <a:off x="457200" y="5010910"/>
            <a:ext cx="5943600" cy="475489"/>
          </a:xfrm>
          <a:prstGeom prst="rect">
            <a:avLst/>
          </a:prstGeom>
          <a:noFill/>
          <a:ln/>
        </p:spPr>
        <p:txBody>
          <a:bodyPr wrap="square" lIns="0" tIns="0" rIns="0" bIns="0" rtlCol="0" anchor="ctr"/>
          <a:lstStyle/>
          <a:p>
            <a:r>
              <a:rPr lang="en-US" sz="1000" b="1" dirty="0">
                <a:solidFill>
                  <a:srgbClr val="A8C8D0"/>
                </a:solidFill>
                <a:latin typeface="Calibri" pitchFamily="34" charset="0"/>
                <a:ea typeface="Calibri" pitchFamily="34" charset="-122"/>
                <a:cs typeface="Calibri" pitchFamily="34" charset="-120"/>
              </a:rPr>
              <a:t>All analysis and visualization were conducted using Python (Pandas, </a:t>
            </a:r>
            <a:r>
              <a:rPr lang="en-US" sz="1000" b="1" dirty="0" err="1">
                <a:solidFill>
                  <a:srgbClr val="A8C8D0"/>
                </a:solidFill>
                <a:latin typeface="Calibri" pitchFamily="34" charset="0"/>
                <a:ea typeface="Calibri" pitchFamily="34" charset="-122"/>
                <a:cs typeface="Calibri" pitchFamily="34" charset="-120"/>
              </a:rPr>
              <a:t>numpy</a:t>
            </a:r>
            <a:r>
              <a:rPr lang="en-US" sz="1000" b="1" dirty="0">
                <a:solidFill>
                  <a:srgbClr val="A8C8D0"/>
                </a:solidFill>
                <a:latin typeface="Calibri" pitchFamily="34" charset="0"/>
                <a:ea typeface="Calibri" pitchFamily="34" charset="-122"/>
                <a:cs typeface="Calibri" pitchFamily="34" charset="-120"/>
              </a:rPr>
              <a:t>, matplotlib, </a:t>
            </a:r>
            <a:r>
              <a:rPr lang="en-US" sz="1000" b="1" dirty="0" err="1">
                <a:solidFill>
                  <a:srgbClr val="A8C8D0"/>
                </a:solidFill>
                <a:latin typeface="Calibri" pitchFamily="34" charset="0"/>
                <a:ea typeface="Calibri" pitchFamily="34" charset="-122"/>
                <a:cs typeface="Calibri" pitchFamily="34" charset="-120"/>
              </a:rPr>
              <a:t>plotly</a:t>
            </a:r>
            <a:r>
              <a:rPr lang="en-US" sz="1000" b="1" dirty="0">
                <a:solidFill>
                  <a:srgbClr val="A8C8D0"/>
                </a:solidFill>
                <a:latin typeface="Calibri" pitchFamily="34" charset="0"/>
                <a:ea typeface="Calibri" pitchFamily="34" charset="-122"/>
                <a:cs typeface="Calibri" pitchFamily="34" charset="-120"/>
              </a:rPr>
              <a:t>, </a:t>
            </a:r>
            <a:r>
              <a:rPr lang="en-US" sz="1000" b="1" dirty="0" err="1">
                <a:solidFill>
                  <a:srgbClr val="A8C8D0"/>
                </a:solidFill>
                <a:latin typeface="Calibri" pitchFamily="34" charset="0"/>
                <a:ea typeface="Calibri" pitchFamily="34" charset="-122"/>
                <a:cs typeface="Calibri" pitchFamily="34" charset="-120"/>
              </a:rPr>
              <a:t>scipy</a:t>
            </a:r>
            <a:r>
              <a:rPr lang="en-US" sz="1000" b="1" dirty="0">
                <a:solidFill>
                  <a:srgbClr val="A8C8D0"/>
                </a:solidFill>
                <a:latin typeface="Calibri" pitchFamily="34" charset="0"/>
                <a:ea typeface="Calibri" pitchFamily="34" charset="-122"/>
                <a:cs typeface="Calibri" pitchFamily="34" charset="-120"/>
              </a:rPr>
              <a:t>). Full code and all plot see in my </a:t>
            </a:r>
            <a:r>
              <a:rPr lang="en-US" sz="1000" b="1" dirty="0" err="1">
                <a:solidFill>
                  <a:srgbClr val="A8C8D0"/>
                </a:solidFill>
                <a:latin typeface="Calibri" pitchFamily="34" charset="0"/>
                <a:ea typeface="Calibri" pitchFamily="34" charset="-122"/>
                <a:cs typeface="Calibri" pitchFamily="34" charset="-120"/>
              </a:rPr>
              <a:t>github</a:t>
            </a:r>
            <a:r>
              <a:rPr lang="en-US" sz="1000" b="1" dirty="0">
                <a:solidFill>
                  <a:srgbClr val="A8C8D0"/>
                </a:solidFill>
                <a:latin typeface="Calibri" pitchFamily="34" charset="0"/>
                <a:ea typeface="Calibri" pitchFamily="34" charset="-122"/>
                <a:cs typeface="Calibri" pitchFamily="34" charset="-120"/>
              </a:rPr>
              <a:t> link: </a:t>
            </a:r>
            <a:r>
              <a:rPr lang="en-US" sz="1000" b="1" dirty="0">
                <a:solidFill>
                  <a:srgbClr val="A8C8D0"/>
                </a:solidFill>
                <a:latin typeface="Calibri" pitchFamily="34" charset="0"/>
                <a:ea typeface="Calibri" pitchFamily="34" charset="-122"/>
                <a:cs typeface="Calibri" pitchFamily="34" charset="-120"/>
                <a:hlinkClick r:id="rId3"/>
              </a:rPr>
              <a:t>https://github.com/xzhu411/Aarki.git</a:t>
            </a:r>
            <a:endParaRPr lang="en-US" sz="1000" b="1" dirty="0">
              <a:solidFill>
                <a:srgbClr val="A8C8D0"/>
              </a:solidFill>
              <a:latin typeface="Calibri" pitchFamily="34" charset="0"/>
              <a:ea typeface="Calibri" pitchFamily="34" charset="-122"/>
              <a:cs typeface="Calibri" pitchFamily="34" charset="-120"/>
            </a:endParaRPr>
          </a:p>
          <a:p>
            <a:endParaRPr lang="en-US" sz="1000" b="1" dirty="0">
              <a:solidFill>
                <a:srgbClr val="A8C8D0"/>
              </a:solidFill>
              <a:latin typeface="Calibri" pitchFamily="34" charset="0"/>
              <a:ea typeface="Calibri" pitchFamily="34" charset="-122"/>
              <a:cs typeface="Calibri"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2</a:t>
            </a:r>
            <a:endParaRPr lang="en-US" sz="800" dirty="0"/>
          </a:p>
        </p:txBody>
      </p:sp>
      <p:sp>
        <p:nvSpPr>
          <p:cNvPr id="5" name="Text 3"/>
          <p:cNvSpPr/>
          <p:nvPr/>
        </p:nvSpPr>
        <p:spPr>
          <a:xfrm>
            <a:off x="365760" y="73152"/>
            <a:ext cx="612648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Table of Contents</a:t>
            </a:r>
            <a:endParaRPr lang="en-US" sz="1500" dirty="0"/>
          </a:p>
        </p:txBody>
      </p:sp>
      <p:sp>
        <p:nvSpPr>
          <p:cNvPr id="6" name="Shape 4"/>
          <p:cNvSpPr/>
          <p:nvPr/>
        </p:nvSpPr>
        <p:spPr>
          <a:xfrm>
            <a:off x="274320" y="713232"/>
            <a:ext cx="6309360" cy="1691640"/>
          </a:xfrm>
          <a:prstGeom prst="rect">
            <a:avLst/>
          </a:prstGeom>
          <a:solidFill>
            <a:srgbClr val="F4F7F9"/>
          </a:solidFill>
          <a:ln/>
          <a:effectLst>
            <a:outerShdw blurRad="38100" dist="12700" dir="8100000" algn="bl" rotWithShape="0">
              <a:srgbClr val="000000">
                <a:alpha val="7000"/>
              </a:srgbClr>
            </a:outerShdw>
          </a:effectLst>
        </p:spPr>
        <p:txBody>
          <a:bodyPr/>
          <a:lstStyle/>
          <a:p>
            <a:endParaRPr lang="en-US"/>
          </a:p>
        </p:txBody>
      </p:sp>
      <p:sp>
        <p:nvSpPr>
          <p:cNvPr id="7" name="Shape 5"/>
          <p:cNvSpPr/>
          <p:nvPr/>
        </p:nvSpPr>
        <p:spPr>
          <a:xfrm>
            <a:off x="274320" y="713232"/>
            <a:ext cx="411480" cy="1691640"/>
          </a:xfrm>
          <a:prstGeom prst="rect">
            <a:avLst/>
          </a:prstGeom>
          <a:solidFill>
            <a:srgbClr val="8899A6"/>
          </a:solidFill>
          <a:ln w="12700">
            <a:solidFill>
              <a:srgbClr val="8899A6"/>
            </a:solidFill>
            <a:prstDash val="solid"/>
          </a:ln>
        </p:spPr>
        <p:txBody>
          <a:bodyPr/>
          <a:lstStyle/>
          <a:p>
            <a:endParaRPr lang="en-US"/>
          </a:p>
        </p:txBody>
      </p:sp>
      <p:sp>
        <p:nvSpPr>
          <p:cNvPr id="8" name="Text 6"/>
          <p:cNvSpPr/>
          <p:nvPr/>
        </p:nvSpPr>
        <p:spPr>
          <a:xfrm>
            <a:off x="274320" y="713232"/>
            <a:ext cx="411480" cy="1691640"/>
          </a:xfrm>
          <a:prstGeom prst="rect">
            <a:avLst/>
          </a:prstGeom>
          <a:noFill/>
          <a:ln/>
        </p:spPr>
        <p:txBody>
          <a:bodyPr wrap="square" lIns="0" tIns="0" rIns="0" bIns="0" rtlCol="0" anchor="ctr"/>
          <a:lstStyle/>
          <a:p>
            <a:pPr marL="0" indent="0" algn="ctr">
              <a:buNone/>
            </a:pPr>
            <a:r>
              <a:rPr lang="en-US" sz="1800" b="1" dirty="0">
                <a:solidFill>
                  <a:srgbClr val="FFFFFF"/>
                </a:solidFill>
              </a:rPr>
              <a:t>01</a:t>
            </a:r>
            <a:endParaRPr lang="en-US" sz="1800" dirty="0"/>
          </a:p>
        </p:txBody>
      </p:sp>
      <p:sp>
        <p:nvSpPr>
          <p:cNvPr id="9" name="Text 7"/>
          <p:cNvSpPr/>
          <p:nvPr/>
        </p:nvSpPr>
        <p:spPr>
          <a:xfrm>
            <a:off x="822960" y="877824"/>
            <a:ext cx="502920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Q1 — Time Trend Analysis</a:t>
            </a:r>
            <a:endParaRPr lang="en-US" sz="1200" dirty="0"/>
          </a:p>
        </p:txBody>
      </p:sp>
      <p:sp>
        <p:nvSpPr>
          <p:cNvPr id="10" name="Text 8"/>
          <p:cNvSpPr/>
          <p:nvPr/>
        </p:nvSpPr>
        <p:spPr>
          <a:xfrm>
            <a:off x="822960" y="1216152"/>
            <a:ext cx="5029200" cy="1005840"/>
          </a:xfrm>
          <a:prstGeom prst="rect">
            <a:avLst/>
          </a:prstGeom>
          <a:noFill/>
          <a:ln/>
        </p:spPr>
        <p:txBody>
          <a:bodyPr wrap="square" lIns="0" tIns="0" rIns="0" bIns="0" rtlCol="0" anchor="ctr"/>
          <a:lstStyle/>
          <a:p>
            <a:pPr marL="0" indent="0">
              <a:buNone/>
            </a:pPr>
            <a:r>
              <a:rPr lang="en-US" sz="1200" dirty="0">
                <a:solidFill>
                  <a:srgbClr val="8899A6"/>
                </a:solidFill>
                <a:latin typeface="Calibri" pitchFamily="34" charset="0"/>
                <a:ea typeface="Calibri" pitchFamily="34" charset="-122"/>
                <a:cs typeface="Calibri" pitchFamily="34" charset="-120"/>
              </a:rPr>
              <a:t>Is lead quality improving or declining over time?</a:t>
            </a:r>
            <a:endParaRPr lang="en-US" sz="1200" dirty="0"/>
          </a:p>
        </p:txBody>
      </p:sp>
      <p:sp>
        <p:nvSpPr>
          <p:cNvPr id="11" name="Text 9"/>
          <p:cNvSpPr/>
          <p:nvPr/>
        </p:nvSpPr>
        <p:spPr>
          <a:xfrm>
            <a:off x="5852160" y="877824"/>
            <a:ext cx="640080" cy="274320"/>
          </a:xfrm>
          <a:prstGeom prst="rect">
            <a:avLst/>
          </a:prstGeom>
          <a:noFill/>
          <a:ln/>
        </p:spPr>
        <p:txBody>
          <a:bodyPr wrap="square" lIns="0" tIns="0" rIns="0" bIns="0" rtlCol="0" anchor="ctr"/>
          <a:lstStyle/>
          <a:p>
            <a:pPr marL="0" indent="0" algn="r">
              <a:buNone/>
            </a:pPr>
            <a:r>
              <a:rPr lang="en-US" sz="900" b="1" dirty="0">
                <a:solidFill>
                  <a:srgbClr val="8899A6"/>
                </a:solidFill>
              </a:rPr>
              <a:t>p. 3</a:t>
            </a:r>
            <a:endParaRPr lang="en-US" sz="900" dirty="0"/>
          </a:p>
        </p:txBody>
      </p:sp>
      <p:sp>
        <p:nvSpPr>
          <p:cNvPr id="12" name="Shape 10"/>
          <p:cNvSpPr/>
          <p:nvPr/>
        </p:nvSpPr>
        <p:spPr>
          <a:xfrm>
            <a:off x="274320" y="2633472"/>
            <a:ext cx="6309360" cy="1691640"/>
          </a:xfrm>
          <a:prstGeom prst="rect">
            <a:avLst/>
          </a:prstGeom>
          <a:solidFill>
            <a:srgbClr val="F4F7F9"/>
          </a:solidFill>
          <a:ln/>
          <a:effectLst>
            <a:outerShdw blurRad="38100" dist="12700" dir="8100000" algn="bl" rotWithShape="0">
              <a:srgbClr val="000000">
                <a:alpha val="7000"/>
              </a:srgbClr>
            </a:outerShdw>
          </a:effectLst>
        </p:spPr>
        <p:txBody>
          <a:bodyPr/>
          <a:lstStyle/>
          <a:p>
            <a:endParaRPr lang="en-US"/>
          </a:p>
        </p:txBody>
      </p:sp>
      <p:sp>
        <p:nvSpPr>
          <p:cNvPr id="13" name="Shape 11"/>
          <p:cNvSpPr/>
          <p:nvPr/>
        </p:nvSpPr>
        <p:spPr>
          <a:xfrm>
            <a:off x="274320" y="2633472"/>
            <a:ext cx="411480" cy="1691640"/>
          </a:xfrm>
          <a:prstGeom prst="rect">
            <a:avLst/>
          </a:prstGeom>
          <a:solidFill>
            <a:srgbClr val="028090"/>
          </a:solidFill>
          <a:ln w="12700">
            <a:solidFill>
              <a:srgbClr val="028090"/>
            </a:solidFill>
            <a:prstDash val="solid"/>
          </a:ln>
        </p:spPr>
        <p:txBody>
          <a:bodyPr/>
          <a:lstStyle/>
          <a:p>
            <a:endParaRPr lang="en-US"/>
          </a:p>
        </p:txBody>
      </p:sp>
      <p:sp>
        <p:nvSpPr>
          <p:cNvPr id="14" name="Text 12"/>
          <p:cNvSpPr/>
          <p:nvPr/>
        </p:nvSpPr>
        <p:spPr>
          <a:xfrm>
            <a:off x="274320" y="2633472"/>
            <a:ext cx="411480" cy="1691640"/>
          </a:xfrm>
          <a:prstGeom prst="rect">
            <a:avLst/>
          </a:prstGeom>
          <a:noFill/>
          <a:ln/>
        </p:spPr>
        <p:txBody>
          <a:bodyPr wrap="square" lIns="0" tIns="0" rIns="0" bIns="0" rtlCol="0" anchor="ctr"/>
          <a:lstStyle/>
          <a:p>
            <a:pPr marL="0" indent="0" algn="ctr">
              <a:buNone/>
            </a:pPr>
            <a:r>
              <a:rPr lang="en-US" sz="1800" b="1" dirty="0">
                <a:solidFill>
                  <a:srgbClr val="FFFFFF"/>
                </a:solidFill>
              </a:rPr>
              <a:t>02</a:t>
            </a:r>
            <a:endParaRPr lang="en-US" sz="1800" dirty="0"/>
          </a:p>
        </p:txBody>
      </p:sp>
      <p:sp>
        <p:nvSpPr>
          <p:cNvPr id="15" name="Text 13"/>
          <p:cNvSpPr/>
          <p:nvPr/>
        </p:nvSpPr>
        <p:spPr>
          <a:xfrm>
            <a:off x="822960" y="2798064"/>
            <a:ext cx="502920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Q2 — Driver Analysis</a:t>
            </a:r>
            <a:endParaRPr lang="en-US" sz="1200" dirty="0"/>
          </a:p>
        </p:txBody>
      </p:sp>
      <p:sp>
        <p:nvSpPr>
          <p:cNvPr id="16" name="Text 14"/>
          <p:cNvSpPr/>
          <p:nvPr/>
        </p:nvSpPr>
        <p:spPr>
          <a:xfrm>
            <a:off x="822960" y="3136392"/>
            <a:ext cx="5029200" cy="1005840"/>
          </a:xfrm>
          <a:prstGeom prst="rect">
            <a:avLst/>
          </a:prstGeom>
          <a:noFill/>
          <a:ln/>
        </p:spPr>
        <p:txBody>
          <a:bodyPr wrap="square" lIns="0" tIns="0" rIns="0" bIns="0" rtlCol="0" anchor="ctr"/>
          <a:lstStyle/>
          <a:p>
            <a:pPr marL="0" indent="0">
              <a:buNone/>
            </a:pPr>
            <a:r>
              <a:rPr lang="en-US" sz="1200" dirty="0">
                <a:solidFill>
                  <a:srgbClr val="8899A6"/>
                </a:solidFill>
                <a:latin typeface="Calibri" pitchFamily="34" charset="0"/>
                <a:ea typeface="Calibri" pitchFamily="34" charset="-122"/>
                <a:cs typeface="Calibri" pitchFamily="34" charset="-120"/>
              </a:rPr>
              <a:t>Widget &amp; Creative  ·  Publisher Zone &amp; Campaign  ·  Partner &amp; Traffic</a:t>
            </a:r>
            <a:endParaRPr lang="en-US" sz="1200" dirty="0"/>
          </a:p>
          <a:p>
            <a:pPr marL="0" indent="0">
              <a:buNone/>
            </a:pPr>
            <a:r>
              <a:rPr lang="en-US" sz="1200" dirty="0">
                <a:solidFill>
                  <a:srgbClr val="8899A6"/>
                </a:solidFill>
                <a:latin typeface="Calibri" pitchFamily="34" charset="0"/>
                <a:ea typeface="Calibri" pitchFamily="34" charset="-122"/>
                <a:cs typeface="Calibri" pitchFamily="34" charset="-120"/>
              </a:rPr>
              <a:t>Debt Level  ·  Phone Score  ·  Address Score  ·  Debt × Phone Score</a:t>
            </a:r>
            <a:endParaRPr lang="en-US" sz="1200" dirty="0"/>
          </a:p>
          <a:p>
            <a:pPr marL="0" indent="0">
              <a:buNone/>
            </a:pPr>
            <a:r>
              <a:rPr lang="en-US" sz="1200" dirty="0">
                <a:solidFill>
                  <a:srgbClr val="8899A6"/>
                </a:solidFill>
                <a:latin typeface="Calibri" pitchFamily="34" charset="0"/>
                <a:ea typeface="Calibri" pitchFamily="34" charset="-122"/>
                <a:cs typeface="Calibri" pitchFamily="34" charset="-120"/>
              </a:rPr>
              <a:t>Marketing Campaign  ·  Geographic Distribution</a:t>
            </a:r>
            <a:endParaRPr lang="en-US" sz="1200" dirty="0"/>
          </a:p>
        </p:txBody>
      </p:sp>
      <p:sp>
        <p:nvSpPr>
          <p:cNvPr id="17" name="Text 15"/>
          <p:cNvSpPr/>
          <p:nvPr/>
        </p:nvSpPr>
        <p:spPr>
          <a:xfrm>
            <a:off x="5852160" y="2798064"/>
            <a:ext cx="640080" cy="274320"/>
          </a:xfrm>
          <a:prstGeom prst="rect">
            <a:avLst/>
          </a:prstGeom>
          <a:noFill/>
          <a:ln/>
        </p:spPr>
        <p:txBody>
          <a:bodyPr wrap="square" lIns="0" tIns="0" rIns="0" bIns="0" rtlCol="0" anchor="ctr"/>
          <a:lstStyle/>
          <a:p>
            <a:pPr marL="0" indent="0" algn="r">
              <a:buNone/>
            </a:pPr>
            <a:r>
              <a:rPr lang="en-US" sz="900" b="1" dirty="0">
                <a:solidFill>
                  <a:srgbClr val="028090"/>
                </a:solidFill>
              </a:rPr>
              <a:t>p. 4–12</a:t>
            </a:r>
            <a:endParaRPr lang="en-US" sz="900" dirty="0"/>
          </a:p>
        </p:txBody>
      </p:sp>
      <p:sp>
        <p:nvSpPr>
          <p:cNvPr id="18" name="Shape 16"/>
          <p:cNvSpPr/>
          <p:nvPr/>
        </p:nvSpPr>
        <p:spPr>
          <a:xfrm>
            <a:off x="274320" y="4553712"/>
            <a:ext cx="6309360" cy="1691640"/>
          </a:xfrm>
          <a:prstGeom prst="rect">
            <a:avLst/>
          </a:prstGeom>
          <a:solidFill>
            <a:srgbClr val="F4F7F9"/>
          </a:solidFill>
          <a:ln/>
          <a:effectLst>
            <a:outerShdw blurRad="38100" dist="12700" dir="8100000" algn="bl" rotWithShape="0">
              <a:srgbClr val="000000">
                <a:alpha val="7000"/>
              </a:srgbClr>
            </a:outerShdw>
          </a:effectLst>
        </p:spPr>
        <p:txBody>
          <a:bodyPr/>
          <a:lstStyle/>
          <a:p>
            <a:endParaRPr lang="en-US"/>
          </a:p>
        </p:txBody>
      </p:sp>
      <p:sp>
        <p:nvSpPr>
          <p:cNvPr id="19" name="Shape 17"/>
          <p:cNvSpPr/>
          <p:nvPr/>
        </p:nvSpPr>
        <p:spPr>
          <a:xfrm>
            <a:off x="274320" y="4553712"/>
            <a:ext cx="411480" cy="1691640"/>
          </a:xfrm>
          <a:prstGeom prst="rect">
            <a:avLst/>
          </a:prstGeom>
          <a:solidFill>
            <a:srgbClr val="F4A261"/>
          </a:solidFill>
          <a:ln w="12700">
            <a:solidFill>
              <a:srgbClr val="F4A261"/>
            </a:solidFill>
            <a:prstDash val="solid"/>
          </a:ln>
        </p:spPr>
        <p:txBody>
          <a:bodyPr/>
          <a:lstStyle/>
          <a:p>
            <a:endParaRPr lang="en-US"/>
          </a:p>
        </p:txBody>
      </p:sp>
      <p:sp>
        <p:nvSpPr>
          <p:cNvPr id="20" name="Text 18"/>
          <p:cNvSpPr/>
          <p:nvPr/>
        </p:nvSpPr>
        <p:spPr>
          <a:xfrm>
            <a:off x="274320" y="4553712"/>
            <a:ext cx="411480" cy="1691640"/>
          </a:xfrm>
          <a:prstGeom prst="rect">
            <a:avLst/>
          </a:prstGeom>
          <a:noFill/>
          <a:ln/>
        </p:spPr>
        <p:txBody>
          <a:bodyPr wrap="square" lIns="0" tIns="0" rIns="0" bIns="0" rtlCol="0" anchor="ctr"/>
          <a:lstStyle/>
          <a:p>
            <a:pPr marL="0" indent="0" algn="ctr">
              <a:buNone/>
            </a:pPr>
            <a:r>
              <a:rPr lang="en-US" sz="1800" b="1" dirty="0">
                <a:solidFill>
                  <a:srgbClr val="FFFFFF"/>
                </a:solidFill>
              </a:rPr>
              <a:t>03</a:t>
            </a:r>
            <a:endParaRPr lang="en-US" sz="1800" dirty="0"/>
          </a:p>
        </p:txBody>
      </p:sp>
      <p:sp>
        <p:nvSpPr>
          <p:cNvPr id="21" name="Text 19"/>
          <p:cNvSpPr/>
          <p:nvPr/>
        </p:nvSpPr>
        <p:spPr>
          <a:xfrm>
            <a:off x="822960" y="4718304"/>
            <a:ext cx="502920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Q3 — CPL Increase Opportunity</a:t>
            </a:r>
            <a:endParaRPr lang="en-US" sz="1200" dirty="0"/>
          </a:p>
        </p:txBody>
      </p:sp>
      <p:sp>
        <p:nvSpPr>
          <p:cNvPr id="22" name="Text 20"/>
          <p:cNvSpPr/>
          <p:nvPr/>
        </p:nvSpPr>
        <p:spPr>
          <a:xfrm>
            <a:off x="822960" y="5056632"/>
            <a:ext cx="5029200" cy="1005840"/>
          </a:xfrm>
          <a:prstGeom prst="rect">
            <a:avLst/>
          </a:prstGeom>
          <a:noFill/>
          <a:ln/>
        </p:spPr>
        <p:txBody>
          <a:bodyPr wrap="square" lIns="0" tIns="0" rIns="0" bIns="0" rtlCol="0" anchor="ctr"/>
          <a:lstStyle/>
          <a:p>
            <a:pPr marL="0" indent="0">
              <a:buNone/>
            </a:pPr>
            <a:r>
              <a:rPr lang="en-US" sz="1200" dirty="0">
                <a:solidFill>
                  <a:srgbClr val="8899A6"/>
                </a:solidFill>
                <a:latin typeface="Calibri" pitchFamily="34" charset="0"/>
                <a:ea typeface="Calibri" pitchFamily="34" charset="-122"/>
                <a:cs typeface="Calibri" pitchFamily="34" charset="-120"/>
              </a:rPr>
              <a:t>Filter strategies to reach the 15.6% quality target</a:t>
            </a:r>
            <a:endParaRPr lang="en-US" sz="1200" dirty="0"/>
          </a:p>
        </p:txBody>
      </p:sp>
      <p:sp>
        <p:nvSpPr>
          <p:cNvPr id="23" name="Text 21"/>
          <p:cNvSpPr/>
          <p:nvPr/>
        </p:nvSpPr>
        <p:spPr>
          <a:xfrm>
            <a:off x="5852160" y="4718304"/>
            <a:ext cx="640080" cy="274320"/>
          </a:xfrm>
          <a:prstGeom prst="rect">
            <a:avLst/>
          </a:prstGeom>
          <a:noFill/>
          <a:ln/>
        </p:spPr>
        <p:txBody>
          <a:bodyPr wrap="square" lIns="0" tIns="0" rIns="0" bIns="0" rtlCol="0" anchor="ctr"/>
          <a:lstStyle/>
          <a:p>
            <a:pPr marL="0" indent="0" algn="r">
              <a:buNone/>
            </a:pPr>
            <a:r>
              <a:rPr lang="en-US" sz="900" b="1" dirty="0">
                <a:solidFill>
                  <a:srgbClr val="F4A261"/>
                </a:solidFill>
              </a:rPr>
              <a:t>p. 13</a:t>
            </a:r>
            <a:endParaRPr lang="en-US" sz="900" dirty="0"/>
          </a:p>
        </p:txBody>
      </p:sp>
      <p:sp>
        <p:nvSpPr>
          <p:cNvPr id="24" name="Shape 22"/>
          <p:cNvSpPr/>
          <p:nvPr/>
        </p:nvSpPr>
        <p:spPr>
          <a:xfrm>
            <a:off x="274320" y="6473952"/>
            <a:ext cx="6309360" cy="1691640"/>
          </a:xfrm>
          <a:prstGeom prst="rect">
            <a:avLst/>
          </a:prstGeom>
          <a:solidFill>
            <a:srgbClr val="F4F7F9"/>
          </a:solidFill>
          <a:ln/>
          <a:effectLst>
            <a:outerShdw blurRad="38100" dist="12700" dir="8100000" algn="bl" rotWithShape="0">
              <a:srgbClr val="000000">
                <a:alpha val="7000"/>
              </a:srgbClr>
            </a:outerShdw>
          </a:effectLst>
        </p:spPr>
        <p:txBody>
          <a:bodyPr/>
          <a:lstStyle/>
          <a:p>
            <a:endParaRPr lang="en-US"/>
          </a:p>
        </p:txBody>
      </p:sp>
      <p:sp>
        <p:nvSpPr>
          <p:cNvPr id="25" name="Shape 23"/>
          <p:cNvSpPr/>
          <p:nvPr/>
        </p:nvSpPr>
        <p:spPr>
          <a:xfrm>
            <a:off x="274320" y="6473952"/>
            <a:ext cx="411480" cy="1691640"/>
          </a:xfrm>
          <a:prstGeom prst="rect">
            <a:avLst/>
          </a:prstGeom>
          <a:solidFill>
            <a:srgbClr val="0A2540"/>
          </a:solidFill>
          <a:ln w="12700">
            <a:solidFill>
              <a:srgbClr val="0A2540"/>
            </a:solidFill>
            <a:prstDash val="solid"/>
          </a:ln>
        </p:spPr>
        <p:txBody>
          <a:bodyPr/>
          <a:lstStyle/>
          <a:p>
            <a:endParaRPr lang="en-US"/>
          </a:p>
        </p:txBody>
      </p:sp>
      <p:sp>
        <p:nvSpPr>
          <p:cNvPr id="26" name="Text 24"/>
          <p:cNvSpPr/>
          <p:nvPr/>
        </p:nvSpPr>
        <p:spPr>
          <a:xfrm>
            <a:off x="274320" y="6473952"/>
            <a:ext cx="411480" cy="1691640"/>
          </a:xfrm>
          <a:prstGeom prst="rect">
            <a:avLst/>
          </a:prstGeom>
          <a:noFill/>
          <a:ln/>
        </p:spPr>
        <p:txBody>
          <a:bodyPr wrap="square" lIns="0" tIns="0" rIns="0" bIns="0" rtlCol="0" anchor="ctr"/>
          <a:lstStyle/>
          <a:p>
            <a:pPr marL="0" indent="0" algn="ctr">
              <a:buNone/>
            </a:pPr>
            <a:r>
              <a:rPr lang="en-US" sz="1800" b="1" dirty="0">
                <a:solidFill>
                  <a:srgbClr val="FFFFFF"/>
                </a:solidFill>
              </a:rPr>
              <a:t>04</a:t>
            </a:r>
            <a:endParaRPr lang="en-US" sz="1800" dirty="0"/>
          </a:p>
        </p:txBody>
      </p:sp>
      <p:sp>
        <p:nvSpPr>
          <p:cNvPr id="27" name="Text 25"/>
          <p:cNvSpPr/>
          <p:nvPr/>
        </p:nvSpPr>
        <p:spPr>
          <a:xfrm>
            <a:off x="822960" y="6638544"/>
            <a:ext cx="5029200" cy="320040"/>
          </a:xfrm>
          <a:prstGeom prst="rect">
            <a:avLst/>
          </a:prstGeom>
          <a:noFill/>
          <a:ln/>
        </p:spPr>
        <p:txBody>
          <a:bodyPr wrap="square" lIns="0" tIns="0" rIns="0" bIns="0"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Future Work &amp; Conclusions</a:t>
            </a:r>
            <a:endParaRPr lang="en-US" sz="1200" dirty="0"/>
          </a:p>
        </p:txBody>
      </p:sp>
      <p:sp>
        <p:nvSpPr>
          <p:cNvPr id="28" name="Text 26"/>
          <p:cNvSpPr/>
          <p:nvPr/>
        </p:nvSpPr>
        <p:spPr>
          <a:xfrm>
            <a:off x="822960" y="6976872"/>
            <a:ext cx="5029200" cy="1005840"/>
          </a:xfrm>
          <a:prstGeom prst="rect">
            <a:avLst/>
          </a:prstGeom>
          <a:noFill/>
          <a:ln/>
        </p:spPr>
        <p:txBody>
          <a:bodyPr wrap="square" lIns="0" tIns="0" rIns="0" bIns="0" rtlCol="0" anchor="ctr"/>
          <a:lstStyle/>
          <a:p>
            <a:pPr marL="0" indent="0">
              <a:buNone/>
            </a:pPr>
            <a:r>
              <a:rPr lang="en-US" sz="1200" dirty="0">
                <a:solidFill>
                  <a:srgbClr val="8899A6"/>
                </a:solidFill>
                <a:latin typeface="Calibri" pitchFamily="34" charset="0"/>
                <a:ea typeface="Calibri" pitchFamily="34" charset="-122"/>
                <a:cs typeface="Calibri" pitchFamily="34" charset="-120"/>
              </a:rPr>
              <a:t>Actionable next steps ranked by impact and feasibility</a:t>
            </a:r>
            <a:endParaRPr lang="en-US" sz="1200" dirty="0"/>
          </a:p>
        </p:txBody>
      </p:sp>
      <p:sp>
        <p:nvSpPr>
          <p:cNvPr id="29" name="Text 27"/>
          <p:cNvSpPr/>
          <p:nvPr/>
        </p:nvSpPr>
        <p:spPr>
          <a:xfrm>
            <a:off x="5852160" y="6638544"/>
            <a:ext cx="640080" cy="274320"/>
          </a:xfrm>
          <a:prstGeom prst="rect">
            <a:avLst/>
          </a:prstGeom>
          <a:noFill/>
          <a:ln/>
        </p:spPr>
        <p:txBody>
          <a:bodyPr wrap="square" lIns="0" tIns="0" rIns="0" bIns="0" rtlCol="0" anchor="ctr"/>
          <a:lstStyle/>
          <a:p>
            <a:pPr marL="0" indent="0" algn="r">
              <a:buNone/>
            </a:pPr>
            <a:r>
              <a:rPr lang="en-US" sz="900" b="1" dirty="0">
                <a:solidFill>
                  <a:srgbClr val="0A2540"/>
                </a:solidFill>
              </a:rPr>
              <a:t>p. 14-15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2</a:t>
            </a:r>
            <a:endParaRPr lang="en-US" sz="800" dirty="0"/>
          </a:p>
        </p:txBody>
      </p:sp>
      <p:sp>
        <p:nvSpPr>
          <p:cNvPr id="5" name="Text 3"/>
          <p:cNvSpPr/>
          <p:nvPr/>
        </p:nvSpPr>
        <p:spPr>
          <a:xfrm>
            <a:off x="365760" y="73152"/>
            <a:ext cx="612648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Summary</a:t>
            </a:r>
            <a:endParaRPr lang="en-US" sz="1500" dirty="0"/>
          </a:p>
        </p:txBody>
      </p:sp>
      <p:sp>
        <p:nvSpPr>
          <p:cNvPr id="6" name="Shape 4"/>
          <p:cNvSpPr/>
          <p:nvPr/>
        </p:nvSpPr>
        <p:spPr>
          <a:xfrm>
            <a:off x="228600" y="640080"/>
            <a:ext cx="1417320" cy="822960"/>
          </a:xfrm>
          <a:prstGeom prst="rect">
            <a:avLst/>
          </a:prstGeom>
          <a:solidFill>
            <a:srgbClr val="028090"/>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28600" y="694944"/>
            <a:ext cx="1417320" cy="438912"/>
          </a:xfrm>
          <a:prstGeom prst="rect">
            <a:avLst/>
          </a:prstGeom>
          <a:noFill/>
          <a:ln/>
        </p:spPr>
        <p:txBody>
          <a:bodyPr wrap="square" lIns="0" tIns="0" rIns="0" bIns="0" rtlCol="0" anchor="ctr"/>
          <a:lstStyle/>
          <a:p>
            <a:pPr marL="0" indent="0" algn="ctr">
              <a:buNone/>
            </a:pPr>
            <a:r>
              <a:rPr lang="en-US" sz="2200" b="1" dirty="0">
                <a:solidFill>
                  <a:srgbClr val="FFFFFF"/>
                </a:solidFill>
              </a:rPr>
              <a:t>13.0%</a:t>
            </a:r>
            <a:endParaRPr lang="en-US" sz="2200" dirty="0"/>
          </a:p>
        </p:txBody>
      </p:sp>
      <p:sp>
        <p:nvSpPr>
          <p:cNvPr id="8" name="Text 6"/>
          <p:cNvSpPr/>
          <p:nvPr/>
        </p:nvSpPr>
        <p:spPr>
          <a:xfrm>
            <a:off x="228600" y="1133856"/>
            <a:ext cx="1417320" cy="274320"/>
          </a:xfrm>
          <a:prstGeom prst="rect">
            <a:avLst/>
          </a:prstGeom>
          <a:noFill/>
          <a:ln/>
        </p:spPr>
        <p:txBody>
          <a:bodyPr wrap="square" lIns="0" tIns="0" rIns="0" bIns="0" rtlCol="0" anchor="t"/>
          <a:lstStyle/>
          <a:p>
            <a:pPr marL="0" indent="0" algn="ctr">
              <a:buNone/>
            </a:pPr>
            <a:r>
              <a:rPr lang="en-US" sz="1000" dirty="0">
                <a:solidFill>
                  <a:srgbClr val="FFFFFF"/>
                </a:solidFill>
              </a:rPr>
              <a:t>Baseline Quality Rate</a:t>
            </a:r>
            <a:endParaRPr lang="en-US" sz="1000" dirty="0"/>
          </a:p>
        </p:txBody>
      </p:sp>
      <p:sp>
        <p:nvSpPr>
          <p:cNvPr id="9" name="Shape 7"/>
          <p:cNvSpPr/>
          <p:nvPr/>
        </p:nvSpPr>
        <p:spPr>
          <a:xfrm>
            <a:off x="1828800" y="640080"/>
            <a:ext cx="1417320" cy="822960"/>
          </a:xfrm>
          <a:prstGeom prst="rect">
            <a:avLst/>
          </a:prstGeom>
          <a:solidFill>
            <a:srgbClr val="0A6B7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1828800" y="694944"/>
            <a:ext cx="1417320" cy="438912"/>
          </a:xfrm>
          <a:prstGeom prst="rect">
            <a:avLst/>
          </a:prstGeom>
          <a:noFill/>
          <a:ln/>
        </p:spPr>
        <p:txBody>
          <a:bodyPr wrap="square" lIns="0" tIns="0" rIns="0" bIns="0" rtlCol="0" anchor="ctr"/>
          <a:lstStyle/>
          <a:p>
            <a:pPr marL="0" indent="0" algn="ctr">
              <a:buNone/>
            </a:pPr>
            <a:r>
              <a:rPr lang="en-US" sz="2200" b="1" dirty="0">
                <a:solidFill>
                  <a:srgbClr val="FFFFFF"/>
                </a:solidFill>
              </a:rPr>
              <a:t>15.6%</a:t>
            </a:r>
            <a:endParaRPr lang="en-US" sz="2200" dirty="0"/>
          </a:p>
        </p:txBody>
      </p:sp>
      <p:sp>
        <p:nvSpPr>
          <p:cNvPr id="11" name="Text 9"/>
          <p:cNvSpPr/>
          <p:nvPr/>
        </p:nvSpPr>
        <p:spPr>
          <a:xfrm>
            <a:off x="1828800" y="1133856"/>
            <a:ext cx="1417320" cy="274320"/>
          </a:xfrm>
          <a:prstGeom prst="rect">
            <a:avLst/>
          </a:prstGeom>
          <a:noFill/>
          <a:ln/>
        </p:spPr>
        <p:txBody>
          <a:bodyPr wrap="square" lIns="0" tIns="0" rIns="0" bIns="0" rtlCol="0" anchor="t"/>
          <a:lstStyle/>
          <a:p>
            <a:pPr marL="0" indent="0" algn="ctr">
              <a:buNone/>
            </a:pPr>
            <a:r>
              <a:rPr lang="en-US" sz="1000" dirty="0">
                <a:solidFill>
                  <a:srgbClr val="FFFFFF"/>
                </a:solidFill>
              </a:rPr>
              <a:t>Target (Baseline ×1.2)</a:t>
            </a:r>
            <a:endParaRPr lang="en-US" sz="1000" dirty="0"/>
          </a:p>
        </p:txBody>
      </p:sp>
      <p:sp>
        <p:nvSpPr>
          <p:cNvPr id="12" name="Shape 10"/>
          <p:cNvSpPr/>
          <p:nvPr/>
        </p:nvSpPr>
        <p:spPr>
          <a:xfrm>
            <a:off x="3429000" y="640080"/>
            <a:ext cx="1417320" cy="822960"/>
          </a:xfrm>
          <a:prstGeom prst="rect">
            <a:avLst/>
          </a:prstGeom>
          <a:solidFill>
            <a:srgbClr val="8899A6"/>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3429000" y="694944"/>
            <a:ext cx="1417320" cy="438912"/>
          </a:xfrm>
          <a:prstGeom prst="rect">
            <a:avLst/>
          </a:prstGeom>
          <a:noFill/>
          <a:ln/>
        </p:spPr>
        <p:txBody>
          <a:bodyPr wrap="square" lIns="0" tIns="0" rIns="0" bIns="0" rtlCol="0" anchor="ctr"/>
          <a:lstStyle/>
          <a:p>
            <a:pPr marL="0" indent="0" algn="ctr">
              <a:buNone/>
            </a:pPr>
            <a:r>
              <a:rPr lang="en-US" sz="2200" b="1" dirty="0">
                <a:solidFill>
                  <a:srgbClr val="FFFFFF"/>
                </a:solidFill>
              </a:rPr>
              <a:t>393</a:t>
            </a:r>
            <a:endParaRPr lang="en-US" sz="2200" dirty="0"/>
          </a:p>
        </p:txBody>
      </p:sp>
      <p:sp>
        <p:nvSpPr>
          <p:cNvPr id="14" name="Text 12"/>
          <p:cNvSpPr/>
          <p:nvPr/>
        </p:nvSpPr>
        <p:spPr>
          <a:xfrm>
            <a:off x="3429000" y="1133856"/>
            <a:ext cx="1417320" cy="274320"/>
          </a:xfrm>
          <a:prstGeom prst="rect">
            <a:avLst/>
          </a:prstGeom>
          <a:noFill/>
          <a:ln/>
        </p:spPr>
        <p:txBody>
          <a:bodyPr wrap="square" lIns="0" tIns="0" rIns="0" bIns="0" rtlCol="0" anchor="t"/>
          <a:lstStyle/>
          <a:p>
            <a:pPr marL="0" indent="0" algn="ctr">
              <a:buNone/>
            </a:pPr>
            <a:r>
              <a:rPr lang="en-US" sz="1000" dirty="0">
                <a:solidFill>
                  <a:srgbClr val="FFFFFF"/>
                </a:solidFill>
              </a:rPr>
              <a:t>Good Leads (of 3,021)</a:t>
            </a:r>
            <a:endParaRPr lang="en-US" sz="1000" dirty="0"/>
          </a:p>
        </p:txBody>
      </p:sp>
      <p:sp>
        <p:nvSpPr>
          <p:cNvPr id="15" name="Shape 13"/>
          <p:cNvSpPr/>
          <p:nvPr/>
        </p:nvSpPr>
        <p:spPr>
          <a:xfrm>
            <a:off x="5029200" y="640080"/>
            <a:ext cx="1417320" cy="822960"/>
          </a:xfrm>
          <a:prstGeom prst="rect">
            <a:avLst/>
          </a:prstGeom>
          <a:solidFill>
            <a:srgbClr val="0D1B2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029200" y="694944"/>
            <a:ext cx="1417320" cy="438912"/>
          </a:xfrm>
          <a:prstGeom prst="rect">
            <a:avLst/>
          </a:prstGeom>
          <a:noFill/>
          <a:ln/>
        </p:spPr>
        <p:txBody>
          <a:bodyPr wrap="square" lIns="0" tIns="0" rIns="0" bIns="0" rtlCol="0" anchor="ctr"/>
          <a:lstStyle/>
          <a:p>
            <a:pPr marL="0" indent="0" algn="ctr">
              <a:buNone/>
            </a:pPr>
            <a:r>
              <a:rPr lang="en-US" sz="2200" b="1" dirty="0">
                <a:solidFill>
                  <a:srgbClr val="FFFFFF"/>
                </a:solidFill>
              </a:rPr>
              <a:t>44.6%</a:t>
            </a:r>
            <a:endParaRPr lang="en-US" sz="2200" dirty="0"/>
          </a:p>
        </p:txBody>
      </p:sp>
      <p:sp>
        <p:nvSpPr>
          <p:cNvPr id="17" name="Text 15"/>
          <p:cNvSpPr/>
          <p:nvPr/>
        </p:nvSpPr>
        <p:spPr>
          <a:xfrm>
            <a:off x="5029200" y="1133856"/>
            <a:ext cx="1417320" cy="274320"/>
          </a:xfrm>
          <a:prstGeom prst="rect">
            <a:avLst/>
          </a:prstGeom>
          <a:noFill/>
          <a:ln/>
        </p:spPr>
        <p:txBody>
          <a:bodyPr wrap="square" lIns="0" tIns="0" rIns="0" bIns="0" rtlCol="0" anchor="t"/>
          <a:lstStyle/>
          <a:p>
            <a:pPr marL="0" indent="0" algn="ctr">
              <a:buNone/>
            </a:pPr>
            <a:r>
              <a:rPr lang="en-US" sz="1000" dirty="0">
                <a:solidFill>
                  <a:srgbClr val="FFFFFF"/>
                </a:solidFill>
              </a:rPr>
              <a:t>Good / (Good+Bad)</a:t>
            </a:r>
            <a:endParaRPr lang="en-US" sz="1000" dirty="0"/>
          </a:p>
        </p:txBody>
      </p:sp>
      <p:sp>
        <p:nvSpPr>
          <p:cNvPr id="18" name="Text 16"/>
          <p:cNvSpPr/>
          <p:nvPr/>
        </p:nvSpPr>
        <p:spPr>
          <a:xfrm>
            <a:off x="365760" y="1600200"/>
            <a:ext cx="2743200" cy="256032"/>
          </a:xfrm>
          <a:prstGeom prst="rect">
            <a:avLst/>
          </a:prstGeom>
          <a:noFill/>
          <a:ln/>
        </p:spPr>
        <p:txBody>
          <a:bodyPr wrap="square" lIns="0" tIns="0" rIns="0" bIns="0" rtlCol="0" anchor="ctr"/>
          <a:lstStyle/>
          <a:p>
            <a:pPr marL="0" indent="0">
              <a:buNone/>
            </a:pPr>
            <a:r>
              <a:rPr lang="en-US" sz="900" b="1" kern="0" spc="200" dirty="0">
                <a:solidFill>
                  <a:srgbClr val="028090"/>
                </a:solidFill>
                <a:latin typeface="Calibri" pitchFamily="34" charset="0"/>
                <a:ea typeface="Calibri" pitchFamily="34" charset="-122"/>
                <a:cs typeface="Calibri" pitchFamily="34" charset="-120"/>
              </a:rPr>
              <a:t>KEY FINDINGS</a:t>
            </a:r>
            <a:endParaRPr lang="en-US" sz="900" dirty="0"/>
          </a:p>
        </p:txBody>
      </p:sp>
      <p:sp>
        <p:nvSpPr>
          <p:cNvPr id="19" name="Shape 17"/>
          <p:cNvSpPr/>
          <p:nvPr/>
        </p:nvSpPr>
        <p:spPr>
          <a:xfrm>
            <a:off x="365760" y="1920240"/>
            <a:ext cx="6126480" cy="594360"/>
          </a:xfrm>
          <a:prstGeom prst="rect">
            <a:avLst/>
          </a:prstGeom>
          <a:solidFill>
            <a:srgbClr val="FFFFFF"/>
          </a:solidFill>
          <a:ln/>
          <a:effectLst>
            <a:outerShdw blurRad="38100" dist="12700" dir="8100000" algn="bl" rotWithShape="0">
              <a:srgbClr val="000000">
                <a:alpha val="8000"/>
              </a:srgbClr>
            </a:outerShdw>
          </a:effectLst>
        </p:spPr>
        <p:txBody>
          <a:bodyPr/>
          <a:lstStyle/>
          <a:p>
            <a:endParaRPr lang="en-US"/>
          </a:p>
        </p:txBody>
      </p:sp>
      <p:sp>
        <p:nvSpPr>
          <p:cNvPr id="20" name="Shape 18"/>
          <p:cNvSpPr/>
          <p:nvPr/>
        </p:nvSpPr>
        <p:spPr>
          <a:xfrm>
            <a:off x="365760" y="1920240"/>
            <a:ext cx="320040" cy="594360"/>
          </a:xfrm>
          <a:prstGeom prst="rect">
            <a:avLst/>
          </a:prstGeom>
          <a:solidFill>
            <a:srgbClr val="8899A6"/>
          </a:solidFill>
          <a:ln w="12700">
            <a:solidFill>
              <a:srgbClr val="8899A6"/>
            </a:solidFill>
            <a:prstDash val="solid"/>
          </a:ln>
        </p:spPr>
        <p:txBody>
          <a:bodyPr/>
          <a:lstStyle/>
          <a:p>
            <a:endParaRPr lang="en-US"/>
          </a:p>
        </p:txBody>
      </p:sp>
      <p:sp>
        <p:nvSpPr>
          <p:cNvPr id="21" name="Text 19"/>
          <p:cNvSpPr/>
          <p:nvPr/>
        </p:nvSpPr>
        <p:spPr>
          <a:xfrm>
            <a:off x="365760" y="1920240"/>
            <a:ext cx="320040" cy="594360"/>
          </a:xfrm>
          <a:prstGeom prst="rect">
            <a:avLst/>
          </a:prstGeom>
          <a:noFill/>
          <a:ln/>
        </p:spPr>
        <p:txBody>
          <a:bodyPr wrap="square" lIns="0" tIns="0" rIns="0" bIns="0" rtlCol="0" anchor="ctr"/>
          <a:lstStyle/>
          <a:p>
            <a:pPr marL="0" indent="0" algn="ctr">
              <a:buNone/>
            </a:pPr>
            <a:r>
              <a:rPr lang="en-US" sz="1000" b="1" dirty="0">
                <a:solidFill>
                  <a:srgbClr val="FFFFFF"/>
                </a:solidFill>
              </a:rPr>
              <a:t>Q1</a:t>
            </a:r>
            <a:endParaRPr lang="en-US" sz="1000" dirty="0"/>
          </a:p>
        </p:txBody>
      </p:sp>
      <p:sp>
        <p:nvSpPr>
          <p:cNvPr id="22" name="Text 20"/>
          <p:cNvSpPr/>
          <p:nvPr/>
        </p:nvSpPr>
        <p:spPr>
          <a:xfrm>
            <a:off x="777240" y="1956816"/>
            <a:ext cx="5577840" cy="521208"/>
          </a:xfrm>
          <a:prstGeom prst="rect">
            <a:avLst/>
          </a:prstGeom>
          <a:noFill/>
          <a:ln/>
        </p:spPr>
        <p:txBody>
          <a:bodyPr wrap="square" lIns="50800" tIns="50800" rIns="50800" bIns="5080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No significant time trend (Apr–Sep 2009, p=0.61). Quality fluctuates but is stable overall.</a:t>
            </a:r>
            <a:endParaRPr lang="en-US" sz="1050" dirty="0"/>
          </a:p>
        </p:txBody>
      </p:sp>
      <p:sp>
        <p:nvSpPr>
          <p:cNvPr id="23" name="Shape 21"/>
          <p:cNvSpPr/>
          <p:nvPr/>
        </p:nvSpPr>
        <p:spPr>
          <a:xfrm>
            <a:off x="365760" y="2606040"/>
            <a:ext cx="6126480" cy="594360"/>
          </a:xfrm>
          <a:prstGeom prst="rect">
            <a:avLst/>
          </a:prstGeom>
          <a:solidFill>
            <a:srgbClr val="FFFFFF"/>
          </a:solidFill>
          <a:ln/>
          <a:effectLst>
            <a:outerShdw blurRad="38100" dist="12700" dir="8100000" algn="bl" rotWithShape="0">
              <a:srgbClr val="000000">
                <a:alpha val="8000"/>
              </a:srgbClr>
            </a:outerShdw>
          </a:effectLst>
        </p:spPr>
        <p:txBody>
          <a:bodyPr/>
          <a:lstStyle/>
          <a:p>
            <a:endParaRPr lang="en-US"/>
          </a:p>
        </p:txBody>
      </p:sp>
      <p:sp>
        <p:nvSpPr>
          <p:cNvPr id="24" name="Shape 22"/>
          <p:cNvSpPr/>
          <p:nvPr/>
        </p:nvSpPr>
        <p:spPr>
          <a:xfrm>
            <a:off x="365760" y="2606040"/>
            <a:ext cx="320040" cy="594360"/>
          </a:xfrm>
          <a:prstGeom prst="rect">
            <a:avLst/>
          </a:prstGeom>
          <a:solidFill>
            <a:srgbClr val="028090"/>
          </a:solidFill>
          <a:ln w="12700">
            <a:solidFill>
              <a:srgbClr val="028090"/>
            </a:solidFill>
            <a:prstDash val="solid"/>
          </a:ln>
        </p:spPr>
        <p:txBody>
          <a:bodyPr/>
          <a:lstStyle/>
          <a:p>
            <a:endParaRPr lang="en-US"/>
          </a:p>
        </p:txBody>
      </p:sp>
      <p:sp>
        <p:nvSpPr>
          <p:cNvPr id="25" name="Text 23"/>
          <p:cNvSpPr/>
          <p:nvPr/>
        </p:nvSpPr>
        <p:spPr>
          <a:xfrm>
            <a:off x="365760" y="2606040"/>
            <a:ext cx="320040" cy="594360"/>
          </a:xfrm>
          <a:prstGeom prst="rect">
            <a:avLst/>
          </a:prstGeom>
          <a:noFill/>
          <a:ln/>
        </p:spPr>
        <p:txBody>
          <a:bodyPr wrap="square" lIns="0" tIns="0" rIns="0" bIns="0" rtlCol="0" anchor="ctr"/>
          <a:lstStyle/>
          <a:p>
            <a:pPr marL="0" indent="0" algn="ctr">
              <a:buNone/>
            </a:pPr>
            <a:r>
              <a:rPr lang="en-US" sz="1000" b="1" dirty="0">
                <a:solidFill>
                  <a:srgbClr val="FFFFFF"/>
                </a:solidFill>
              </a:rPr>
              <a:t>Q2</a:t>
            </a:r>
            <a:endParaRPr lang="en-US" sz="1000" dirty="0"/>
          </a:p>
        </p:txBody>
      </p:sp>
      <p:sp>
        <p:nvSpPr>
          <p:cNvPr id="26" name="Text 24"/>
          <p:cNvSpPr/>
          <p:nvPr/>
        </p:nvSpPr>
        <p:spPr>
          <a:xfrm>
            <a:off x="777240" y="2642616"/>
            <a:ext cx="5577840" cy="521208"/>
          </a:xfrm>
          <a:prstGeom prst="rect">
            <a:avLst/>
          </a:prstGeom>
          <a:noFill/>
          <a:ln/>
        </p:spPr>
        <p:txBody>
          <a:bodyPr wrap="square" lIns="50800" tIns="50800" rIns="50800" bIns="5080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Search traffic (15.3%) significantly outperforms Content/AdSense (9.7%), p=0.0004. Phone Score 5 leads are best at 16.2% (p=0.0007).</a:t>
            </a:r>
            <a:endParaRPr lang="en-US" sz="1050" dirty="0"/>
          </a:p>
        </p:txBody>
      </p:sp>
      <p:sp>
        <p:nvSpPr>
          <p:cNvPr id="27" name="Shape 25"/>
          <p:cNvSpPr/>
          <p:nvPr/>
        </p:nvSpPr>
        <p:spPr>
          <a:xfrm>
            <a:off x="365760" y="3291840"/>
            <a:ext cx="6126480" cy="594360"/>
          </a:xfrm>
          <a:prstGeom prst="rect">
            <a:avLst/>
          </a:prstGeom>
          <a:solidFill>
            <a:srgbClr val="FFFFFF"/>
          </a:solidFill>
          <a:ln/>
          <a:effectLst>
            <a:outerShdw blurRad="38100" dist="12700" dir="8100000" algn="bl" rotWithShape="0">
              <a:srgbClr val="000000">
                <a:alpha val="8000"/>
              </a:srgbClr>
            </a:outerShdw>
          </a:effectLst>
        </p:spPr>
        <p:txBody>
          <a:bodyPr/>
          <a:lstStyle/>
          <a:p>
            <a:endParaRPr lang="en-US" sz="2400"/>
          </a:p>
        </p:txBody>
      </p:sp>
      <p:sp>
        <p:nvSpPr>
          <p:cNvPr id="28" name="Shape 26"/>
          <p:cNvSpPr/>
          <p:nvPr/>
        </p:nvSpPr>
        <p:spPr>
          <a:xfrm>
            <a:off x="365760" y="3291840"/>
            <a:ext cx="320040" cy="594360"/>
          </a:xfrm>
          <a:prstGeom prst="rect">
            <a:avLst/>
          </a:prstGeom>
          <a:solidFill>
            <a:srgbClr val="028090"/>
          </a:solidFill>
          <a:ln w="12700">
            <a:solidFill>
              <a:srgbClr val="028090"/>
            </a:solidFill>
            <a:prstDash val="solid"/>
          </a:ln>
        </p:spPr>
        <p:txBody>
          <a:bodyPr/>
          <a:lstStyle/>
          <a:p>
            <a:endParaRPr lang="en-US"/>
          </a:p>
        </p:txBody>
      </p:sp>
      <p:sp>
        <p:nvSpPr>
          <p:cNvPr id="29" name="Text 27"/>
          <p:cNvSpPr/>
          <p:nvPr/>
        </p:nvSpPr>
        <p:spPr>
          <a:xfrm>
            <a:off x="365760" y="3291840"/>
            <a:ext cx="320040" cy="594360"/>
          </a:xfrm>
          <a:prstGeom prst="rect">
            <a:avLst/>
          </a:prstGeom>
          <a:noFill/>
          <a:ln/>
        </p:spPr>
        <p:txBody>
          <a:bodyPr wrap="square" lIns="0" tIns="0" rIns="0" bIns="0" rtlCol="0" anchor="ctr"/>
          <a:lstStyle/>
          <a:p>
            <a:pPr marL="0" indent="0" algn="ctr">
              <a:buNone/>
            </a:pPr>
            <a:r>
              <a:rPr lang="en-US" sz="1000" b="1" dirty="0">
                <a:solidFill>
                  <a:srgbClr val="FFFFFF"/>
                </a:solidFill>
              </a:rPr>
              <a:t>Q2</a:t>
            </a:r>
            <a:endParaRPr lang="en-US" sz="1000" dirty="0"/>
          </a:p>
        </p:txBody>
      </p:sp>
      <p:sp>
        <p:nvSpPr>
          <p:cNvPr id="30" name="Text 28"/>
          <p:cNvSpPr/>
          <p:nvPr/>
        </p:nvSpPr>
        <p:spPr>
          <a:xfrm>
            <a:off x="777240" y="3328416"/>
            <a:ext cx="5577840" cy="521208"/>
          </a:xfrm>
          <a:prstGeom prst="rect">
            <a:avLst/>
          </a:prstGeom>
          <a:noFill/>
          <a:ln/>
        </p:spPr>
        <p:txBody>
          <a:bodyPr wrap="square" lIns="50800" tIns="50800" rIns="50800" bIns="50800" rtlCol="0" anchor="ctr"/>
          <a:lstStyle/>
          <a:p>
            <a:pPr marL="0" indent="0">
              <a:buNone/>
            </a:pPr>
            <a:r>
              <a:rPr lang="en-US" sz="950" dirty="0">
                <a:solidFill>
                  <a:srgbClr val="0D1B2A"/>
                </a:solidFill>
                <a:latin typeface="Calibri" pitchFamily="34" charset="0"/>
                <a:ea typeface="Calibri" pitchFamily="34" charset="-122"/>
                <a:cs typeface="Calibri" pitchFamily="34" charset="-120"/>
              </a:rPr>
              <a:t>Debt level shows an inverted-U pattern — only the two extremes ($7.5k-10k: 7.0% and &gt;$100k: 6.8%) are significantly below average (chi²=44.82, p&lt;0.0001).</a:t>
            </a:r>
            <a:endParaRPr lang="en-US" sz="950" dirty="0"/>
          </a:p>
        </p:txBody>
      </p:sp>
      <p:sp>
        <p:nvSpPr>
          <p:cNvPr id="31" name="Shape 29"/>
          <p:cNvSpPr/>
          <p:nvPr/>
        </p:nvSpPr>
        <p:spPr>
          <a:xfrm>
            <a:off x="365760" y="3977640"/>
            <a:ext cx="6126480" cy="594360"/>
          </a:xfrm>
          <a:prstGeom prst="rect">
            <a:avLst/>
          </a:prstGeom>
          <a:solidFill>
            <a:srgbClr val="FFFFFF"/>
          </a:solidFill>
          <a:ln/>
          <a:effectLst>
            <a:outerShdw blurRad="38100" dist="12700" dir="8100000" algn="bl" rotWithShape="0">
              <a:srgbClr val="000000">
                <a:alpha val="8000"/>
              </a:srgbClr>
            </a:outerShdw>
          </a:effectLst>
        </p:spPr>
        <p:txBody>
          <a:bodyPr/>
          <a:lstStyle/>
          <a:p>
            <a:endParaRPr lang="en-US"/>
          </a:p>
        </p:txBody>
      </p:sp>
      <p:sp>
        <p:nvSpPr>
          <p:cNvPr id="32" name="Shape 30"/>
          <p:cNvSpPr/>
          <p:nvPr/>
        </p:nvSpPr>
        <p:spPr>
          <a:xfrm>
            <a:off x="365760" y="3977640"/>
            <a:ext cx="320040" cy="594360"/>
          </a:xfrm>
          <a:prstGeom prst="rect">
            <a:avLst/>
          </a:prstGeom>
          <a:solidFill>
            <a:srgbClr val="F4A261"/>
          </a:solidFill>
          <a:ln w="12700">
            <a:solidFill>
              <a:srgbClr val="F4A261"/>
            </a:solidFill>
            <a:prstDash val="solid"/>
          </a:ln>
        </p:spPr>
        <p:txBody>
          <a:bodyPr/>
          <a:lstStyle/>
          <a:p>
            <a:endParaRPr lang="en-US"/>
          </a:p>
        </p:txBody>
      </p:sp>
      <p:sp>
        <p:nvSpPr>
          <p:cNvPr id="33" name="Text 31"/>
          <p:cNvSpPr/>
          <p:nvPr/>
        </p:nvSpPr>
        <p:spPr>
          <a:xfrm>
            <a:off x="365760" y="3977640"/>
            <a:ext cx="320040" cy="594360"/>
          </a:xfrm>
          <a:prstGeom prst="rect">
            <a:avLst/>
          </a:prstGeom>
          <a:noFill/>
          <a:ln/>
        </p:spPr>
        <p:txBody>
          <a:bodyPr wrap="square" lIns="0" tIns="0" rIns="0" bIns="0" rtlCol="0" anchor="ctr"/>
          <a:lstStyle/>
          <a:p>
            <a:pPr marL="0" indent="0" algn="ctr">
              <a:buNone/>
            </a:pPr>
            <a:r>
              <a:rPr lang="en-US" sz="1000" b="1" dirty="0">
                <a:solidFill>
                  <a:srgbClr val="FFFFFF"/>
                </a:solidFill>
              </a:rPr>
              <a:t>Q3</a:t>
            </a:r>
            <a:endParaRPr lang="en-US" sz="1000" dirty="0"/>
          </a:p>
        </p:txBody>
      </p:sp>
      <p:sp>
        <p:nvSpPr>
          <p:cNvPr id="34" name="Text 32"/>
          <p:cNvSpPr/>
          <p:nvPr/>
        </p:nvSpPr>
        <p:spPr>
          <a:xfrm>
            <a:off x="777240" y="4014216"/>
            <a:ext cx="5577840" cy="521208"/>
          </a:xfrm>
          <a:prstGeom prst="rect">
            <a:avLst/>
          </a:prstGeom>
          <a:noFill/>
          <a:ln/>
        </p:spPr>
        <p:txBody>
          <a:bodyPr wrap="square" lIns="50800" tIns="50800" rIns="50800" bIns="50800" rtlCol="0" anchor="ctr"/>
          <a:lstStyle/>
          <a:p>
            <a:pPr marL="0" indent="0">
              <a:buNone/>
            </a:pPr>
            <a:r>
              <a:rPr lang="en-US" sz="1050" dirty="0">
                <a:solidFill>
                  <a:srgbClr val="0D1B2A"/>
                </a:solidFill>
                <a:latin typeface="Calibri" pitchFamily="34" charset="0"/>
                <a:ea typeface="Calibri" pitchFamily="34" charset="-122"/>
                <a:cs typeface="Calibri" pitchFamily="34" charset="-120"/>
              </a:rPr>
              <a:t>Recommended strategy: exclude extreme debt + Search traffic only → 16.9% quality, retaining 1,186 leads, exceeding the 15.6% target.</a:t>
            </a:r>
            <a:endParaRPr lang="en-US" sz="1050" dirty="0"/>
          </a:p>
        </p:txBody>
      </p:sp>
      <p:sp>
        <p:nvSpPr>
          <p:cNvPr id="35" name="Shape 33"/>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36" name="Text 34"/>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2</a:t>
            </a:r>
            <a:endParaRPr lang="en-US" sz="800" dirty="0"/>
          </a:p>
        </p:txBody>
      </p:sp>
      <p:sp>
        <p:nvSpPr>
          <p:cNvPr id="37" name="Shape 6">
            <a:extLst>
              <a:ext uri="{FF2B5EF4-FFF2-40B4-BE49-F238E27FC236}">
                <a16:creationId xmlns:a16="http://schemas.microsoft.com/office/drawing/2014/main" id="{05E95376-4913-DE0C-F1A5-B0A89B0D1FE8}"/>
              </a:ext>
            </a:extLst>
          </p:cNvPr>
          <p:cNvSpPr/>
          <p:nvPr/>
        </p:nvSpPr>
        <p:spPr>
          <a:xfrm>
            <a:off x="274320" y="4846320"/>
            <a:ext cx="6309360" cy="1051560"/>
          </a:xfrm>
          <a:prstGeom prst="rect">
            <a:avLst/>
          </a:prstGeom>
          <a:solidFill>
            <a:srgbClr val="F4F7F9"/>
          </a:solidFill>
          <a:ln w="6350">
            <a:solidFill>
              <a:srgbClr val="D0D8DF"/>
            </a:solidFill>
            <a:prstDash val="solid"/>
          </a:ln>
        </p:spPr>
        <p:txBody>
          <a:bodyPr/>
          <a:lstStyle/>
          <a:p>
            <a:endParaRPr lang="en-US" dirty="0"/>
          </a:p>
        </p:txBody>
      </p:sp>
      <p:sp>
        <p:nvSpPr>
          <p:cNvPr id="38" name="Text 7">
            <a:extLst>
              <a:ext uri="{FF2B5EF4-FFF2-40B4-BE49-F238E27FC236}">
                <a16:creationId xmlns:a16="http://schemas.microsoft.com/office/drawing/2014/main" id="{994A41E1-9F22-9774-42D3-8EB10AF449C0}"/>
              </a:ext>
            </a:extLst>
          </p:cNvPr>
          <p:cNvSpPr/>
          <p:nvPr/>
        </p:nvSpPr>
        <p:spPr>
          <a:xfrm>
            <a:off x="465268" y="4713732"/>
            <a:ext cx="4144384" cy="1316736"/>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All code of analysis and visualization can be found </a:t>
            </a:r>
            <a:r>
              <a:rPr lang="en-US" sz="1100" b="1" dirty="0">
                <a:solidFill>
                  <a:srgbClr val="028090"/>
                </a:solidFill>
                <a:latin typeface="Calibri" pitchFamily="34" charset="0"/>
                <a:ea typeface="Calibri" pitchFamily="34" charset="-122"/>
                <a:cs typeface="Calibri" pitchFamily="34" charset="-120"/>
                <a:hlinkClick r:id="rId3"/>
              </a:rPr>
              <a:t>here</a:t>
            </a:r>
            <a:endParaRPr lang="en-US" sz="1100" b="1" dirty="0">
              <a:solidFill>
                <a:srgbClr val="028090"/>
              </a:solidFill>
              <a:latin typeface="Calibri" pitchFamily="34" charset="0"/>
              <a:ea typeface="Calibri" pitchFamily="34" charset="-122"/>
              <a:cs typeface="Calibri" pitchFamily="34" charset="-120"/>
            </a:endParaRPr>
          </a:p>
          <a:p>
            <a:r>
              <a:rPr lang="en-US" sz="1100" dirty="0">
                <a:hlinkClick r:id="rId3"/>
              </a:rPr>
              <a:t>https://github.com/xzhu411/Aarki.git</a:t>
            </a:r>
            <a:endParaRPr lang="en-US" sz="1100" dirty="0"/>
          </a:p>
          <a:p>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3</a:t>
            </a:r>
            <a:endParaRPr lang="en-US" sz="800" dirty="0"/>
          </a:p>
        </p:txBody>
      </p:sp>
      <p:sp>
        <p:nvSpPr>
          <p:cNvPr id="5" name="Text 3"/>
          <p:cNvSpPr/>
          <p:nvPr/>
        </p:nvSpPr>
        <p:spPr>
          <a:xfrm>
            <a:off x="365760" y="73152"/>
            <a:ext cx="6126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Q1 — Is Lead Quality Improving Over Time?</a:t>
            </a:r>
            <a:endParaRPr lang="en-US" sz="1300" dirty="0"/>
          </a:p>
        </p:txBody>
      </p:sp>
      <p:pic>
        <p:nvPicPr>
          <p:cNvPr id="8" name="Image 0" descr="preencoded.png"/>
          <p:cNvPicPr>
            <a:picLocks noChangeAspect="1"/>
          </p:cNvPicPr>
          <p:nvPr/>
        </p:nvPicPr>
        <p:blipFill>
          <a:blip r:embed="rId3"/>
          <a:stretch>
            <a:fillRect/>
          </a:stretch>
        </p:blipFill>
        <p:spPr>
          <a:xfrm>
            <a:off x="274320" y="2726526"/>
            <a:ext cx="6309360" cy="3474720"/>
          </a:xfrm>
          <a:prstGeom prst="rect">
            <a:avLst/>
          </a:prstGeom>
        </p:spPr>
      </p:pic>
      <p:sp>
        <p:nvSpPr>
          <p:cNvPr id="9" name="Shape 6"/>
          <p:cNvSpPr/>
          <p:nvPr/>
        </p:nvSpPr>
        <p:spPr>
          <a:xfrm>
            <a:off x="274320" y="6338406"/>
            <a:ext cx="6309360" cy="1508760"/>
          </a:xfrm>
          <a:prstGeom prst="rect">
            <a:avLst/>
          </a:prstGeom>
          <a:solidFill>
            <a:srgbClr val="F4F7F9"/>
          </a:solidFill>
          <a:ln w="6350">
            <a:solidFill>
              <a:srgbClr val="D0D8DF"/>
            </a:solidFill>
            <a:prstDash val="solid"/>
          </a:ln>
        </p:spPr>
        <p:txBody>
          <a:bodyPr/>
          <a:lstStyle/>
          <a:p>
            <a:endParaRPr lang="en-US"/>
          </a:p>
        </p:txBody>
      </p:sp>
      <p:sp>
        <p:nvSpPr>
          <p:cNvPr id="10" name="Text 7"/>
          <p:cNvSpPr/>
          <p:nvPr/>
        </p:nvSpPr>
        <p:spPr>
          <a:xfrm>
            <a:off x="502920" y="6429846"/>
            <a:ext cx="2743200" cy="22860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Interpretation</a:t>
            </a:r>
            <a:endParaRPr lang="en-US" sz="1100" dirty="0"/>
          </a:p>
        </p:txBody>
      </p:sp>
      <p:sp>
        <p:nvSpPr>
          <p:cNvPr id="11" name="Text 8"/>
          <p:cNvSpPr/>
          <p:nvPr/>
        </p:nvSpPr>
        <p:spPr>
          <a:xfrm>
            <a:off x="365760" y="6626173"/>
            <a:ext cx="5943600" cy="1097280"/>
          </a:xfrm>
          <a:prstGeom prst="rect">
            <a:avLst/>
          </a:prstGeom>
          <a:noFill/>
          <a:ln/>
        </p:spPr>
        <p:txBody>
          <a:bodyPr wrap="square" lIns="50800" tIns="50800" rIns="50800" bIns="50800" rtlCol="0" anchor="ctr"/>
          <a:lstStyle/>
          <a:p>
            <a:pPr marL="342900" indent="-342900">
              <a:spcAft>
                <a:spcPts val="300"/>
              </a:spcAft>
              <a:buSzPct val="100000"/>
              <a:buChar char="•"/>
            </a:pPr>
            <a:r>
              <a:rPr lang="en-US" sz="1050" dirty="0">
                <a:solidFill>
                  <a:srgbClr val="0D1B2A"/>
                </a:solidFill>
                <a:latin typeface="Calibri" pitchFamily="34" charset="0"/>
                <a:ea typeface="Calibri" pitchFamily="34" charset="-122"/>
                <a:cs typeface="Calibri" pitchFamily="34" charset="-120"/>
              </a:rPr>
              <a:t>Quality rate fluctuates between 9.2% (Jul) and 16.9% (Sep) with no consistent upward or downward direction.</a:t>
            </a:r>
            <a:endParaRPr lang="en-US" sz="1050" dirty="0"/>
          </a:p>
          <a:p>
            <a:pPr marL="342900" indent="-342900">
              <a:spcAft>
                <a:spcPts val="300"/>
              </a:spcAft>
              <a:buSzPct val="100000"/>
              <a:buChar char="•"/>
            </a:pPr>
            <a:r>
              <a:rPr lang="en-US" sz="1050" dirty="0">
                <a:solidFill>
                  <a:srgbClr val="0D1B2A"/>
                </a:solidFill>
                <a:latin typeface="Calibri" pitchFamily="34" charset="0"/>
                <a:ea typeface="Calibri" pitchFamily="34" charset="-122"/>
                <a:cs typeface="Calibri" pitchFamily="34" charset="-120"/>
              </a:rPr>
              <a:t>Linear regression: slope = +0.43%/month, but p = 0.61, not statistically significant.</a:t>
            </a:r>
            <a:endParaRPr lang="en-US" sz="1050" dirty="0"/>
          </a:p>
          <a:p>
            <a:pPr marL="342900" indent="-342900">
              <a:spcAft>
                <a:spcPts val="300"/>
              </a:spcAft>
              <a:buSzPct val="100000"/>
              <a:buChar char="•"/>
            </a:pPr>
            <a:r>
              <a:rPr lang="en-US" sz="1050" dirty="0">
                <a:solidFill>
                  <a:srgbClr val="0D1B2A"/>
                </a:solidFill>
                <a:latin typeface="Calibri" pitchFamily="34" charset="0"/>
                <a:ea typeface="Calibri" pitchFamily="34" charset="-122"/>
                <a:cs typeface="Calibri" pitchFamily="34" charset="-120"/>
              </a:rPr>
              <a:t>Conclusion: quality is stable, not systematically improving or declining during this period.</a:t>
            </a:r>
            <a:endParaRPr lang="en-US" sz="1050" dirty="0"/>
          </a:p>
        </p:txBody>
      </p:sp>
      <p:sp>
        <p:nvSpPr>
          <p:cNvPr id="12" name="Shape 9"/>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3</a:t>
            </a:r>
            <a:endParaRPr lang="en-US" sz="800" dirty="0"/>
          </a:p>
        </p:txBody>
      </p:sp>
      <p:sp>
        <p:nvSpPr>
          <p:cNvPr id="15" name="Text 8">
            <a:extLst>
              <a:ext uri="{FF2B5EF4-FFF2-40B4-BE49-F238E27FC236}">
                <a16:creationId xmlns:a16="http://schemas.microsoft.com/office/drawing/2014/main" id="{E573B61F-D36E-22CF-9948-1F7607774727}"/>
              </a:ext>
            </a:extLst>
          </p:cNvPr>
          <p:cNvSpPr/>
          <p:nvPr/>
        </p:nvSpPr>
        <p:spPr>
          <a:xfrm>
            <a:off x="274320" y="1121485"/>
            <a:ext cx="5943600" cy="1097280"/>
          </a:xfrm>
          <a:prstGeom prst="rect">
            <a:avLst/>
          </a:prstGeom>
          <a:noFill/>
          <a:ln/>
        </p:spPr>
        <p:txBody>
          <a:bodyPr wrap="square" lIns="50800" tIns="50800" rIns="50800" bIns="50800" rtlCol="0" anchor="ctr"/>
          <a:lstStyle/>
          <a:p>
            <a:pPr>
              <a:spcAft>
                <a:spcPts val="300"/>
              </a:spcAft>
              <a:buSzPct val="100000"/>
            </a:pPr>
            <a:r>
              <a:rPr lang="en-US" sz="1200" dirty="0"/>
              <a:t>To assess whether lead quality is changing over time, we plotted monthly quality rates across the six-month campaign window and fitted a linear regression to test for a directional trend. While the most recent month (Sep 2009) shows the highest rate at 16.9%, a single strong month is insufficient to conclude improvement, and the regression slope is near zero and statistically insignificant (p = 0.61), meaning the observed fluctuations are consistent with random variation around a stable mean.</a:t>
            </a:r>
          </a:p>
        </p:txBody>
      </p:sp>
      <p:sp>
        <p:nvSpPr>
          <p:cNvPr id="16" name="Shape 4">
            <a:extLst>
              <a:ext uri="{FF2B5EF4-FFF2-40B4-BE49-F238E27FC236}">
                <a16:creationId xmlns:a16="http://schemas.microsoft.com/office/drawing/2014/main" id="{EECE4A26-7C26-2B84-E1B7-8C2316416B8B}"/>
              </a:ext>
            </a:extLst>
          </p:cNvPr>
          <p:cNvSpPr/>
          <p:nvPr/>
        </p:nvSpPr>
        <p:spPr>
          <a:xfrm>
            <a:off x="274320" y="614283"/>
            <a:ext cx="1807285" cy="307475"/>
          </a:xfrm>
          <a:prstGeom prst="rect">
            <a:avLst/>
          </a:prstGeom>
          <a:solidFill>
            <a:srgbClr val="028090"/>
          </a:solidFill>
          <a:ln w="12700">
            <a:solidFill>
              <a:srgbClr val="028090"/>
            </a:solidFill>
            <a:prstDash val="solid"/>
          </a:ln>
        </p:spPr>
        <p:txBody>
          <a:bodyPr/>
          <a:lstStyle/>
          <a:p>
            <a:endParaRPr lang="en-US"/>
          </a:p>
        </p:txBody>
      </p:sp>
      <p:sp>
        <p:nvSpPr>
          <p:cNvPr id="17" name="Text 5">
            <a:extLst>
              <a:ext uri="{FF2B5EF4-FFF2-40B4-BE49-F238E27FC236}">
                <a16:creationId xmlns:a16="http://schemas.microsoft.com/office/drawing/2014/main" id="{9C67CBB2-5394-69D0-99FC-4223CCAE38B7}"/>
              </a:ext>
            </a:extLst>
          </p:cNvPr>
          <p:cNvSpPr/>
          <p:nvPr/>
        </p:nvSpPr>
        <p:spPr>
          <a:xfrm>
            <a:off x="328108" y="635238"/>
            <a:ext cx="1699708" cy="266790"/>
          </a:xfrm>
          <a:prstGeom prst="rect">
            <a:avLst/>
          </a:prstGeom>
          <a:noFill/>
          <a:ln/>
        </p:spPr>
        <p:txBody>
          <a:bodyPr wrap="square" lIns="0" tIns="0" rIns="0" bIns="0" rtlCol="0" anchor="ctr"/>
          <a:lstStyle/>
          <a:p>
            <a:pPr marL="0" indent="0" algn="ctr">
              <a:buNone/>
            </a:pPr>
            <a:r>
              <a:rPr lang="en-US" sz="1200" b="1" dirty="0">
                <a:solidFill>
                  <a:srgbClr val="FFFFFF"/>
                </a:solidFill>
              </a:rPr>
              <a:t>TREND ANALYSIS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4</a:t>
            </a:r>
            <a:endParaRPr lang="en-US" sz="800" dirty="0"/>
          </a:p>
        </p:txBody>
      </p:sp>
      <p:sp>
        <p:nvSpPr>
          <p:cNvPr id="5" name="Text 3"/>
          <p:cNvSpPr/>
          <p:nvPr/>
        </p:nvSpPr>
        <p:spPr>
          <a:xfrm>
            <a:off x="365760" y="73152"/>
            <a:ext cx="6126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Q2 — Driver Analysis: Widget Performance</a:t>
            </a:r>
            <a:endParaRPr lang="en-US" sz="1300" dirty="0"/>
          </a:p>
        </p:txBody>
      </p:sp>
      <p:sp>
        <p:nvSpPr>
          <p:cNvPr id="6" name="Shape 4"/>
          <p:cNvSpPr/>
          <p:nvPr/>
        </p:nvSpPr>
        <p:spPr>
          <a:xfrm>
            <a:off x="274320" y="576072"/>
            <a:ext cx="1807285" cy="307475"/>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274320" y="576072"/>
            <a:ext cx="1807285" cy="307475"/>
          </a:xfrm>
          <a:prstGeom prst="rect">
            <a:avLst/>
          </a:prstGeom>
          <a:noFill/>
          <a:ln/>
        </p:spPr>
        <p:txBody>
          <a:bodyPr wrap="square" lIns="0" tIns="0" rIns="0" bIns="0" rtlCol="0" anchor="ctr"/>
          <a:lstStyle/>
          <a:p>
            <a:pPr marL="0" indent="0" algn="ctr">
              <a:buNone/>
            </a:pPr>
            <a:r>
              <a:rPr lang="en-US" sz="1200" b="1" dirty="0">
                <a:solidFill>
                  <a:srgbClr val="FFFFFF"/>
                </a:solidFill>
              </a:rPr>
              <a:t>WIDGET / CREATIVE</a:t>
            </a:r>
            <a:endParaRPr lang="en-US" sz="1200" dirty="0"/>
          </a:p>
        </p:txBody>
      </p:sp>
      <p:pic>
        <p:nvPicPr>
          <p:cNvPr id="8" name="Image 0" descr="preencoded.png"/>
          <p:cNvPicPr>
            <a:picLocks noChangeAspect="1"/>
          </p:cNvPicPr>
          <p:nvPr/>
        </p:nvPicPr>
        <p:blipFill>
          <a:blip r:embed="rId3"/>
          <a:stretch>
            <a:fillRect/>
          </a:stretch>
        </p:blipFill>
        <p:spPr>
          <a:xfrm>
            <a:off x="182880" y="2004800"/>
            <a:ext cx="6492240" cy="3657600"/>
          </a:xfrm>
          <a:prstGeom prst="rect">
            <a:avLst/>
          </a:prstGeom>
        </p:spPr>
      </p:pic>
      <p:sp>
        <p:nvSpPr>
          <p:cNvPr id="9" name="Shape 6"/>
          <p:cNvSpPr/>
          <p:nvPr/>
        </p:nvSpPr>
        <p:spPr>
          <a:xfrm>
            <a:off x="274320" y="5736515"/>
            <a:ext cx="6309360" cy="2104421"/>
          </a:xfrm>
          <a:prstGeom prst="rect">
            <a:avLst/>
          </a:prstGeom>
          <a:solidFill>
            <a:srgbClr val="F4F7F9"/>
          </a:solidFill>
          <a:ln w="6350">
            <a:solidFill>
              <a:srgbClr val="D0D8DF"/>
            </a:solidFill>
            <a:prstDash val="solid"/>
          </a:ln>
        </p:spPr>
        <p:txBody>
          <a:bodyPr/>
          <a:lstStyle/>
          <a:p>
            <a:endParaRPr lang="en-US"/>
          </a:p>
        </p:txBody>
      </p:sp>
      <p:sp>
        <p:nvSpPr>
          <p:cNvPr id="10" name="Text 7"/>
          <p:cNvSpPr/>
          <p:nvPr/>
        </p:nvSpPr>
        <p:spPr>
          <a:xfrm>
            <a:off x="502920" y="5800524"/>
            <a:ext cx="2743200" cy="22860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Key Takeaways</a:t>
            </a:r>
            <a:endParaRPr lang="en-US" sz="1200" dirty="0"/>
          </a:p>
        </p:txBody>
      </p:sp>
      <p:sp>
        <p:nvSpPr>
          <p:cNvPr id="11" name="Text 8"/>
          <p:cNvSpPr/>
          <p:nvPr/>
        </p:nvSpPr>
        <p:spPr>
          <a:xfrm>
            <a:off x="457200" y="5800524"/>
            <a:ext cx="6309360" cy="2040412"/>
          </a:xfrm>
          <a:prstGeom prst="rect">
            <a:avLst/>
          </a:prstGeom>
          <a:noFill/>
          <a:ln/>
        </p:spPr>
        <p:txBody>
          <a:bodyPr wrap="square" lIns="50800" tIns="50800" rIns="50800" bIns="50800" rtlCol="0" anchor="ctr"/>
          <a:lstStyle/>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1DC-yellowarrow (n=49) achieves 24.5% quality — the highest, but small sample warrants caution.</a:t>
            </a:r>
            <a:endParaRPr lang="en-US" sz="1200" dirty="0"/>
          </a:p>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1DC-Head3 (n=75) is the worst performer at 6.7%, well below average — a strong exclusion candidate.</a:t>
            </a:r>
            <a:endParaRPr lang="en-US" sz="1200" dirty="0"/>
          </a:p>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High-volume widgets (1DC-CreditSolutions, n=1,128) are near average at 13.2%, limiting upside.</a:t>
            </a:r>
          </a:p>
          <a:p>
            <a:pPr marL="342900" indent="-342900">
              <a:spcAft>
                <a:spcPts val="300"/>
              </a:spcAft>
              <a:buSzPct val="100000"/>
              <a:buChar char="•"/>
            </a:pPr>
            <a:r>
              <a:rPr lang="en-US" sz="1200" dirty="0"/>
              <a:t>1DC forms (12.8%) slightly outperform 2DC (12.3%), (table below) but the difference is small and the sample for 2DC is limited (n=162), not a strong enough signal to act on alone.</a:t>
            </a:r>
            <a:r>
              <a:rPr lang="zh-CN" altLang="en-US" sz="1200" dirty="0"/>
              <a:t> </a:t>
            </a:r>
            <a:endParaRPr lang="en-US" sz="1200" dirty="0"/>
          </a:p>
        </p:txBody>
      </p:sp>
      <p:sp>
        <p:nvSpPr>
          <p:cNvPr id="12" name="Shape 9"/>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4</a:t>
            </a:r>
            <a:endParaRPr lang="en-US" sz="800" dirty="0"/>
          </a:p>
        </p:txBody>
      </p:sp>
      <p:sp>
        <p:nvSpPr>
          <p:cNvPr id="15" name="TextBox 14">
            <a:extLst>
              <a:ext uri="{FF2B5EF4-FFF2-40B4-BE49-F238E27FC236}">
                <a16:creationId xmlns:a16="http://schemas.microsoft.com/office/drawing/2014/main" id="{3915DBCD-CF55-4AAD-E6F9-CBAEA9030AE0}"/>
              </a:ext>
            </a:extLst>
          </p:cNvPr>
          <p:cNvSpPr txBox="1"/>
          <p:nvPr/>
        </p:nvSpPr>
        <p:spPr>
          <a:xfrm>
            <a:off x="182880" y="1011562"/>
            <a:ext cx="6492240" cy="1015663"/>
          </a:xfrm>
          <a:prstGeom prst="rect">
            <a:avLst/>
          </a:prstGeom>
          <a:noFill/>
        </p:spPr>
        <p:txBody>
          <a:bodyPr wrap="square">
            <a:spAutoFit/>
          </a:bodyPr>
          <a:lstStyle/>
          <a:p>
            <a:r>
              <a:rPr lang="en-US" sz="1200" dirty="0">
                <a:solidFill>
                  <a:srgbClr val="0D1B2A"/>
                </a:solidFill>
                <a:latin typeface="Calibri" pitchFamily="34" charset="0"/>
                <a:cs typeface="Calibri" pitchFamily="34" charset="-120"/>
              </a:rPr>
              <a:t>We first examined the creative dimension. Note that widgets 300250 and 302252 share identical naming conventions and were treated as the same widget family after merging. We also tested whether 1DC (single-page) vs. 2DC (two-page) forms drive quality differences, but the gap was minimal (12.8% vs. 12.3%) with limited 2DC sample size (n=162), so the more informative breakdown is at the individual widget variant level.</a:t>
            </a:r>
          </a:p>
        </p:txBody>
      </p:sp>
      <p:graphicFrame>
        <p:nvGraphicFramePr>
          <p:cNvPr id="16" name="Table 15">
            <a:extLst>
              <a:ext uri="{FF2B5EF4-FFF2-40B4-BE49-F238E27FC236}">
                <a16:creationId xmlns:a16="http://schemas.microsoft.com/office/drawing/2014/main" id="{2A811365-2BBA-EF5A-1940-1E6D2CDD2229}"/>
              </a:ext>
            </a:extLst>
          </p:cNvPr>
          <p:cNvGraphicFramePr>
            <a:graphicFrameLocks noGrp="1"/>
          </p:cNvGraphicFramePr>
          <p:nvPr>
            <p:extLst>
              <p:ext uri="{D42A27DB-BD31-4B8C-83A1-F6EECF244321}">
                <p14:modId xmlns:p14="http://schemas.microsoft.com/office/powerpoint/2010/main" val="2605802511"/>
              </p:ext>
            </p:extLst>
          </p:nvPr>
        </p:nvGraphicFramePr>
        <p:xfrm>
          <a:off x="1138461" y="8028432"/>
          <a:ext cx="4215318" cy="777240"/>
        </p:xfrm>
        <a:graphic>
          <a:graphicData uri="http://schemas.openxmlformats.org/drawingml/2006/table">
            <a:tbl>
              <a:tblPr/>
              <a:tblGrid>
                <a:gridCol w="1405106">
                  <a:extLst>
                    <a:ext uri="{9D8B030D-6E8A-4147-A177-3AD203B41FA5}">
                      <a16:colId xmlns:a16="http://schemas.microsoft.com/office/drawing/2014/main" val="3872589592"/>
                    </a:ext>
                  </a:extLst>
                </a:gridCol>
                <a:gridCol w="1405106">
                  <a:extLst>
                    <a:ext uri="{9D8B030D-6E8A-4147-A177-3AD203B41FA5}">
                      <a16:colId xmlns:a16="http://schemas.microsoft.com/office/drawing/2014/main" val="3755166645"/>
                    </a:ext>
                  </a:extLst>
                </a:gridCol>
                <a:gridCol w="1405106">
                  <a:extLst>
                    <a:ext uri="{9D8B030D-6E8A-4147-A177-3AD203B41FA5}">
                      <a16:colId xmlns:a16="http://schemas.microsoft.com/office/drawing/2014/main" val="3642437916"/>
                    </a:ext>
                  </a:extLst>
                </a:gridCol>
              </a:tblGrid>
              <a:tr h="215039">
                <a:tc>
                  <a:txBody>
                    <a:bodyPr/>
                    <a:lstStyle/>
                    <a:p>
                      <a:pPr>
                        <a:buNone/>
                      </a:pPr>
                      <a:r>
                        <a:rPr lang="en-US" sz="1100" dirty="0">
                          <a:latin typeface="+mn-lt"/>
                        </a:rPr>
                        <a:t>Form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latin typeface="+mn-lt"/>
                        </a:rPr>
                        <a:t>Leads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latin typeface="+mn-lt"/>
                        </a:rPr>
                        <a:t>Quality 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179287"/>
                  </a:ext>
                </a:extLst>
              </a:tr>
              <a:tr h="215039">
                <a:tc>
                  <a:txBody>
                    <a:bodyPr/>
                    <a:lstStyle/>
                    <a:p>
                      <a:pPr>
                        <a:buNone/>
                      </a:pPr>
                      <a:r>
                        <a:rPr lang="en-US" sz="1100">
                          <a:latin typeface="+mn-lt"/>
                        </a:rPr>
                        <a:t>1DC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dirty="0">
                          <a:latin typeface="+mn-lt"/>
                        </a:rPr>
                        <a:t>2,232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latin typeface="+mn-lt"/>
                        </a:rPr>
                        <a:t>12.8%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0969634"/>
                  </a:ext>
                </a:extLst>
              </a:tr>
              <a:tr h="215039">
                <a:tc>
                  <a:txBody>
                    <a:bodyPr/>
                    <a:lstStyle/>
                    <a:p>
                      <a:pPr>
                        <a:buNone/>
                      </a:pPr>
                      <a:r>
                        <a:rPr lang="en-US" sz="1100">
                          <a:latin typeface="+mn-lt"/>
                        </a:rPr>
                        <a:t>2DC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a:latin typeface="+mn-lt"/>
                        </a:rPr>
                        <a:t>162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100" dirty="0">
                          <a:latin typeface="+mn-lt"/>
                        </a:rPr>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797464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5</a:t>
            </a:r>
            <a:endParaRPr lang="en-US" sz="800" dirty="0"/>
          </a:p>
        </p:txBody>
      </p:sp>
      <p:sp>
        <p:nvSpPr>
          <p:cNvPr id="5" name="Text 3"/>
          <p:cNvSpPr/>
          <p:nvPr/>
        </p:nvSpPr>
        <p:spPr>
          <a:xfrm>
            <a:off x="365760" y="73152"/>
            <a:ext cx="6126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Q2 — Driver Analysis: Partner &amp; Traffic Type</a:t>
            </a:r>
            <a:endParaRPr lang="en-US" sz="1300" dirty="0"/>
          </a:p>
        </p:txBody>
      </p:sp>
      <p:sp>
        <p:nvSpPr>
          <p:cNvPr id="6" name="Shape 4"/>
          <p:cNvSpPr/>
          <p:nvPr/>
        </p:nvSpPr>
        <p:spPr>
          <a:xfrm>
            <a:off x="274320" y="594315"/>
            <a:ext cx="1602889" cy="347562"/>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274320" y="594315"/>
            <a:ext cx="1602889" cy="347562"/>
          </a:xfrm>
          <a:prstGeom prst="rect">
            <a:avLst/>
          </a:prstGeom>
          <a:noFill/>
          <a:ln/>
        </p:spPr>
        <p:txBody>
          <a:bodyPr wrap="square" lIns="0" tIns="0" rIns="0" bIns="0" rtlCol="0" anchor="ctr"/>
          <a:lstStyle/>
          <a:p>
            <a:pPr marL="0" indent="0" algn="ctr">
              <a:buNone/>
            </a:pPr>
            <a:r>
              <a:rPr lang="en-US" sz="1200" b="1" dirty="0">
                <a:solidFill>
                  <a:srgbClr val="FFFFFF"/>
                </a:solidFill>
              </a:rPr>
              <a:t>PARTNER / TRAFFIC</a:t>
            </a:r>
            <a:endParaRPr lang="en-US" sz="1200" dirty="0"/>
          </a:p>
        </p:txBody>
      </p:sp>
      <p:pic>
        <p:nvPicPr>
          <p:cNvPr id="8" name="Image 0" descr="preencoded.png"/>
          <p:cNvPicPr>
            <a:picLocks noChangeAspect="1"/>
          </p:cNvPicPr>
          <p:nvPr/>
        </p:nvPicPr>
        <p:blipFill>
          <a:blip r:embed="rId3"/>
          <a:stretch>
            <a:fillRect/>
          </a:stretch>
        </p:blipFill>
        <p:spPr>
          <a:xfrm>
            <a:off x="182880" y="2880270"/>
            <a:ext cx="6492240" cy="3383280"/>
          </a:xfrm>
          <a:prstGeom prst="rect">
            <a:avLst/>
          </a:prstGeom>
        </p:spPr>
      </p:pic>
      <p:sp>
        <p:nvSpPr>
          <p:cNvPr id="9" name="Shape 6"/>
          <p:cNvSpPr/>
          <p:nvPr/>
        </p:nvSpPr>
        <p:spPr>
          <a:xfrm>
            <a:off x="274320" y="6400709"/>
            <a:ext cx="6309360" cy="1861163"/>
          </a:xfrm>
          <a:prstGeom prst="rect">
            <a:avLst/>
          </a:prstGeom>
          <a:solidFill>
            <a:srgbClr val="F4F7F9"/>
          </a:solidFill>
          <a:ln w="6350">
            <a:solidFill>
              <a:srgbClr val="D0D8DF"/>
            </a:solidFill>
            <a:prstDash val="solid"/>
          </a:ln>
        </p:spPr>
        <p:txBody>
          <a:bodyPr/>
          <a:lstStyle/>
          <a:p>
            <a:endParaRPr lang="en-US"/>
          </a:p>
        </p:txBody>
      </p:sp>
      <p:sp>
        <p:nvSpPr>
          <p:cNvPr id="10" name="Text 7"/>
          <p:cNvSpPr/>
          <p:nvPr/>
        </p:nvSpPr>
        <p:spPr>
          <a:xfrm>
            <a:off x="502920" y="6464718"/>
            <a:ext cx="2743200" cy="228600"/>
          </a:xfrm>
          <a:prstGeom prst="rect">
            <a:avLst/>
          </a:prstGeom>
          <a:noFill/>
          <a:ln/>
        </p:spPr>
        <p:txBody>
          <a:bodyPr wrap="square" lIns="0" tIns="0" rIns="0" bIns="0"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Key Takeaways</a:t>
            </a:r>
            <a:endParaRPr lang="en-US" sz="1400" dirty="0"/>
          </a:p>
        </p:txBody>
      </p:sp>
      <p:sp>
        <p:nvSpPr>
          <p:cNvPr id="11" name="Text 8"/>
          <p:cNvSpPr/>
          <p:nvPr/>
        </p:nvSpPr>
        <p:spPr>
          <a:xfrm>
            <a:off x="457200" y="6720750"/>
            <a:ext cx="5943600" cy="1280160"/>
          </a:xfrm>
          <a:prstGeom prst="rect">
            <a:avLst/>
          </a:prstGeom>
          <a:noFill/>
          <a:ln/>
        </p:spPr>
        <p:txBody>
          <a:bodyPr wrap="square" lIns="50800" tIns="50800" rIns="50800" bIns="50800" rtlCol="0" anchor="ctr"/>
          <a:lstStyle/>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Partner case-sensitivity corrected (google + Google merged). Google (n=1,613) performs below average at 11.2%.</a:t>
            </a:r>
            <a:endParaRPr lang="en-US" sz="1200" dirty="0"/>
          </a:p>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AdKnowledge leads quality at 18.7%, followed by Call Center (16.2%) and Yahoo (14.2%).</a:t>
            </a:r>
            <a:endParaRPr lang="en-US" sz="1200" dirty="0"/>
          </a:p>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advertise.com shows 33.3% but n=3, which is statistically negligible.</a:t>
            </a:r>
            <a:endParaRPr lang="en-US" sz="1200" dirty="0"/>
          </a:p>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Search traffic (15.3%) significantly outperforms Content/AdSense (9.7%), chi²=12.36, p=0.0004.</a:t>
            </a:r>
            <a:endParaRPr lang="en-US" sz="1200" dirty="0"/>
          </a:p>
        </p:txBody>
      </p:sp>
      <p:sp>
        <p:nvSpPr>
          <p:cNvPr id="12" name="Shape 9"/>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5</a:t>
            </a:r>
            <a:endParaRPr lang="en-US" sz="800" dirty="0"/>
          </a:p>
        </p:txBody>
      </p:sp>
      <p:sp>
        <p:nvSpPr>
          <p:cNvPr id="15" name="TextBox 14">
            <a:extLst>
              <a:ext uri="{FF2B5EF4-FFF2-40B4-BE49-F238E27FC236}">
                <a16:creationId xmlns:a16="http://schemas.microsoft.com/office/drawing/2014/main" id="{73F09FE6-034F-5C83-9F53-0AD1C5227F29}"/>
              </a:ext>
            </a:extLst>
          </p:cNvPr>
          <p:cNvSpPr txBox="1"/>
          <p:nvPr/>
        </p:nvSpPr>
        <p:spPr>
          <a:xfrm>
            <a:off x="182880" y="1051650"/>
            <a:ext cx="6492240" cy="1569660"/>
          </a:xfrm>
          <a:prstGeom prst="rect">
            <a:avLst/>
          </a:prstGeom>
          <a:noFill/>
        </p:spPr>
        <p:txBody>
          <a:bodyPr wrap="square">
            <a:spAutoFit/>
          </a:bodyPr>
          <a:lstStyle/>
          <a:p>
            <a:pPr>
              <a:buNone/>
            </a:pPr>
            <a:r>
              <a:rPr lang="en-US" sz="1200" dirty="0"/>
              <a:t>For distribution channels, we separated two distinct questions. Partner was taken directly from the dataset field, but required a case-sensitivity correction. </a:t>
            </a:r>
          </a:p>
          <a:p>
            <a:pPr>
              <a:buNone/>
            </a:pPr>
            <a:r>
              <a:rPr lang="en-US" sz="1200" dirty="0"/>
              <a:t>"google" and "Google" appeared as separate entries and were merged before analysis. </a:t>
            </a:r>
          </a:p>
          <a:p>
            <a:pPr>
              <a:buNone/>
            </a:pPr>
            <a:r>
              <a:rPr lang="en-US" sz="1200" dirty="0"/>
              <a:t>Traffic type, however, cannot be read from the Partner field alone: a partner like Google delivers both paid search and display/content inventory. We therefore derived traffic type independently from the </a:t>
            </a:r>
            <a:r>
              <a:rPr lang="en-US" sz="1200" b="1" dirty="0" err="1"/>
              <a:t>ReferralDomain</a:t>
            </a:r>
            <a:r>
              <a:rPr lang="en-US" sz="1200" dirty="0"/>
              <a:t> field, classifying any domain containing keywords such as "search", "</a:t>
            </a:r>
            <a:r>
              <a:rPr lang="en-US" sz="1200" dirty="0" err="1"/>
              <a:t>google.com</a:t>
            </a:r>
            <a:r>
              <a:rPr lang="en-US" sz="1200" dirty="0"/>
              <a:t>", "</a:t>
            </a:r>
            <a:r>
              <a:rPr lang="en-US" sz="1200" dirty="0" err="1"/>
              <a:t>bing.com</a:t>
            </a:r>
            <a:r>
              <a:rPr lang="en-US" sz="1200" dirty="0"/>
              <a:t>", "</a:t>
            </a:r>
            <a:r>
              <a:rPr lang="en-US" sz="1200" dirty="0" err="1"/>
              <a:t>yahoo.com</a:t>
            </a:r>
            <a:r>
              <a:rPr lang="en-US" sz="1200" dirty="0"/>
              <a:t>", "</a:t>
            </a:r>
            <a:r>
              <a:rPr lang="en-US" sz="1200" dirty="0" err="1"/>
              <a:t>ask.com</a:t>
            </a:r>
            <a:r>
              <a:rPr lang="en-US" sz="1200" dirty="0"/>
              <a:t>", ”search", or "</a:t>
            </a:r>
            <a:r>
              <a:rPr lang="en-US" sz="1200" dirty="0" err="1"/>
              <a:t>aol.com</a:t>
            </a:r>
            <a:r>
              <a:rPr lang="en-US" sz="1200" dirty="0"/>
              <a:t>" as Search, and everything else as Content. Both dimensions were then tested with chi-squared to assess statistical significance.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6</a:t>
            </a:r>
            <a:endParaRPr lang="en-US" sz="800" dirty="0"/>
          </a:p>
        </p:txBody>
      </p:sp>
      <p:sp>
        <p:nvSpPr>
          <p:cNvPr id="5" name="Text 3"/>
          <p:cNvSpPr/>
          <p:nvPr/>
        </p:nvSpPr>
        <p:spPr>
          <a:xfrm>
            <a:off x="365760" y="73152"/>
            <a:ext cx="6126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Q2 — Driver Analysis: Debt Level</a:t>
            </a:r>
            <a:endParaRPr lang="en-US" sz="1300" dirty="0"/>
          </a:p>
        </p:txBody>
      </p:sp>
      <p:sp>
        <p:nvSpPr>
          <p:cNvPr id="6" name="Shape 4"/>
          <p:cNvSpPr/>
          <p:nvPr/>
        </p:nvSpPr>
        <p:spPr>
          <a:xfrm>
            <a:off x="274320" y="576072"/>
            <a:ext cx="1635162" cy="297912"/>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274320" y="576072"/>
            <a:ext cx="1635162" cy="297912"/>
          </a:xfrm>
          <a:prstGeom prst="rect">
            <a:avLst/>
          </a:prstGeom>
          <a:noFill/>
          <a:ln/>
        </p:spPr>
        <p:txBody>
          <a:bodyPr wrap="square" lIns="0" tIns="0" rIns="0" bIns="0" rtlCol="0" anchor="ctr"/>
          <a:lstStyle/>
          <a:p>
            <a:pPr marL="0" indent="0" algn="ctr">
              <a:buNone/>
            </a:pPr>
            <a:r>
              <a:rPr lang="en-US" sz="1200" b="1" dirty="0">
                <a:solidFill>
                  <a:srgbClr val="FFFFFF"/>
                </a:solidFill>
              </a:rPr>
              <a:t>DEBT LEVEL</a:t>
            </a:r>
            <a:endParaRPr lang="en-US" sz="1200" dirty="0"/>
          </a:p>
        </p:txBody>
      </p:sp>
      <p:pic>
        <p:nvPicPr>
          <p:cNvPr id="8" name="Image 0" descr="preencoded.png"/>
          <p:cNvPicPr>
            <a:picLocks noChangeAspect="1"/>
          </p:cNvPicPr>
          <p:nvPr/>
        </p:nvPicPr>
        <p:blipFill>
          <a:blip r:embed="rId3"/>
          <a:stretch>
            <a:fillRect/>
          </a:stretch>
        </p:blipFill>
        <p:spPr>
          <a:xfrm>
            <a:off x="182880" y="2834640"/>
            <a:ext cx="6492240" cy="3474720"/>
          </a:xfrm>
          <a:prstGeom prst="rect">
            <a:avLst/>
          </a:prstGeom>
        </p:spPr>
      </p:pic>
      <p:sp>
        <p:nvSpPr>
          <p:cNvPr id="9" name="Shape 6"/>
          <p:cNvSpPr/>
          <p:nvPr/>
        </p:nvSpPr>
        <p:spPr>
          <a:xfrm>
            <a:off x="274320" y="6446520"/>
            <a:ext cx="6309360" cy="1695480"/>
          </a:xfrm>
          <a:prstGeom prst="rect">
            <a:avLst/>
          </a:prstGeom>
          <a:solidFill>
            <a:srgbClr val="F4F7F9"/>
          </a:solidFill>
          <a:ln w="6350">
            <a:solidFill>
              <a:srgbClr val="D0D8DF"/>
            </a:solidFill>
            <a:prstDash val="solid"/>
          </a:ln>
        </p:spPr>
        <p:txBody>
          <a:bodyPr/>
          <a:lstStyle/>
          <a:p>
            <a:endParaRPr lang="en-US"/>
          </a:p>
        </p:txBody>
      </p:sp>
      <p:sp>
        <p:nvSpPr>
          <p:cNvPr id="10" name="Text 7"/>
          <p:cNvSpPr/>
          <p:nvPr/>
        </p:nvSpPr>
        <p:spPr>
          <a:xfrm>
            <a:off x="502920" y="6510528"/>
            <a:ext cx="2743200" cy="22860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Key Takeaways</a:t>
            </a:r>
            <a:endParaRPr lang="en-US" sz="1200" dirty="0"/>
          </a:p>
        </p:txBody>
      </p:sp>
      <p:sp>
        <p:nvSpPr>
          <p:cNvPr id="11" name="Text 8"/>
          <p:cNvSpPr/>
          <p:nvPr/>
        </p:nvSpPr>
        <p:spPr>
          <a:xfrm>
            <a:off x="457200" y="6766560"/>
            <a:ext cx="5943600" cy="1325880"/>
          </a:xfrm>
          <a:prstGeom prst="rect">
            <a:avLst/>
          </a:prstGeom>
          <a:noFill/>
          <a:ln/>
        </p:spPr>
        <p:txBody>
          <a:bodyPr wrap="square" lIns="50800" tIns="50800" rIns="50800" bIns="50800" rtlCol="0" anchor="ctr"/>
          <a:lstStyle/>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Inverted-U pattern: middle debt bands ($10k–$90k) consistently outperform the two extremes.</a:t>
            </a:r>
            <a:endParaRPr lang="en-US" sz="1200" dirty="0"/>
          </a:p>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Only the two ends are statistically significant: $7.5k-10k (7.0%) and &gt;$100k (6.8%) vs. middle (14.6%), chi²=44.82, p&lt;0.0001.</a:t>
            </a:r>
            <a:endParaRPr lang="en-US" sz="1200" dirty="0"/>
          </a:p>
          <a:p>
            <a:pPr marL="342900" indent="-342900">
              <a:spcAft>
                <a:spcPts val="300"/>
              </a:spcAft>
              <a:buSzPct val="100000"/>
              <a:buChar char="•"/>
            </a:pPr>
            <a:r>
              <a:rPr lang="en-US" sz="1200" b="1" dirty="0">
                <a:solidFill>
                  <a:srgbClr val="0D1B2A"/>
                </a:solidFill>
                <a:latin typeface="Calibri" pitchFamily="34" charset="0"/>
                <a:ea typeface="Calibri" pitchFamily="34" charset="-122"/>
                <a:cs typeface="Calibri" pitchFamily="34" charset="-120"/>
              </a:rPr>
              <a:t>Note</a:t>
            </a:r>
            <a:r>
              <a:rPr lang="en-US" sz="1200" dirty="0">
                <a:solidFill>
                  <a:srgbClr val="0D1B2A"/>
                </a:solidFill>
                <a:latin typeface="Calibri" pitchFamily="34" charset="0"/>
                <a:ea typeface="Calibri" pitchFamily="34" charset="-122"/>
                <a:cs typeface="Calibri" pitchFamily="34" charset="-120"/>
              </a:rPr>
              <a:t>: $7.5k–$15k band has 0% PhoneScore coverage — possible data entry inconsistency; treat with caution.</a:t>
            </a:r>
            <a:endParaRPr lang="en-US" sz="1200" dirty="0"/>
          </a:p>
        </p:txBody>
      </p:sp>
      <p:sp>
        <p:nvSpPr>
          <p:cNvPr id="12" name="Shape 9"/>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6</a:t>
            </a:r>
            <a:endParaRPr lang="en-US" sz="800" dirty="0"/>
          </a:p>
        </p:txBody>
      </p:sp>
      <p:sp>
        <p:nvSpPr>
          <p:cNvPr id="15" name="TextBox 14">
            <a:extLst>
              <a:ext uri="{FF2B5EF4-FFF2-40B4-BE49-F238E27FC236}">
                <a16:creationId xmlns:a16="http://schemas.microsoft.com/office/drawing/2014/main" id="{C42F27DC-D36D-E811-7D07-DDEE2A04B01E}"/>
              </a:ext>
            </a:extLst>
          </p:cNvPr>
          <p:cNvSpPr txBox="1"/>
          <p:nvPr/>
        </p:nvSpPr>
        <p:spPr>
          <a:xfrm>
            <a:off x="169433" y="1002000"/>
            <a:ext cx="6492240" cy="1569660"/>
          </a:xfrm>
          <a:prstGeom prst="rect">
            <a:avLst/>
          </a:prstGeom>
          <a:noFill/>
        </p:spPr>
        <p:txBody>
          <a:bodyPr wrap="square">
            <a:spAutoFit/>
          </a:bodyPr>
          <a:lstStyle/>
          <a:p>
            <a:pPr>
              <a:buNone/>
            </a:pPr>
            <a:r>
              <a:rPr lang="en-US" sz="1200" dirty="0"/>
              <a:t>For applicant profile, we ordered all 10 debt bands from lowest to highest and compared quality rates across them, rather than collapsing into a simple low/mid/high grouping upfront. This revealed an inverted-U pattern: mid-range debt bands consistently outperform both extremes. </a:t>
            </a:r>
          </a:p>
          <a:p>
            <a:pPr>
              <a:buNone/>
            </a:pPr>
            <a:r>
              <a:rPr lang="en-US" sz="1200" dirty="0"/>
              <a:t>We also flagged the $7.5k–$15k band as a data quality concern: it overlaps with two adjacent bands and has zero </a:t>
            </a:r>
            <a:r>
              <a:rPr lang="en-US" sz="1200" dirty="0" err="1"/>
              <a:t>PhoneScore</a:t>
            </a:r>
            <a:r>
              <a:rPr lang="en-US" sz="1200" dirty="0"/>
              <a:t> coverage, suggesting it may come from a different data source. </a:t>
            </a:r>
          </a:p>
          <a:p>
            <a:pPr>
              <a:buNone/>
            </a:pPr>
            <a:r>
              <a:rPr lang="en-US" sz="1200" dirty="0"/>
              <a:t>For the statistical test, rather than running adjacent-band comparisons (which would answer the wrong question), we grouped the two extreme ends together and tested them against all middle bands as a single chi-squared — directly validating the exclusion decision.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7</a:t>
            </a:r>
            <a:endParaRPr lang="en-US" sz="800" dirty="0"/>
          </a:p>
        </p:txBody>
      </p:sp>
      <p:sp>
        <p:nvSpPr>
          <p:cNvPr id="5" name="Text 3"/>
          <p:cNvSpPr/>
          <p:nvPr/>
        </p:nvSpPr>
        <p:spPr>
          <a:xfrm>
            <a:off x="365760" y="73152"/>
            <a:ext cx="6126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Q2 — Driver Analysis: Phone Score</a:t>
            </a:r>
            <a:endParaRPr lang="en-US" sz="1300" dirty="0"/>
          </a:p>
        </p:txBody>
      </p:sp>
      <p:sp>
        <p:nvSpPr>
          <p:cNvPr id="6" name="Shape 4"/>
          <p:cNvSpPr/>
          <p:nvPr/>
        </p:nvSpPr>
        <p:spPr>
          <a:xfrm>
            <a:off x="274319" y="566927"/>
            <a:ext cx="1694329" cy="358229"/>
          </a:xfrm>
          <a:prstGeom prst="rect">
            <a:avLst/>
          </a:prstGeom>
          <a:solidFill>
            <a:srgbClr val="028090"/>
          </a:solidFill>
          <a:ln w="12700">
            <a:solidFill>
              <a:srgbClr val="028090"/>
            </a:solidFill>
            <a:prstDash val="solid"/>
          </a:ln>
        </p:spPr>
        <p:txBody>
          <a:bodyPr/>
          <a:lstStyle/>
          <a:p>
            <a:endParaRPr lang="en-US" sz="1200"/>
          </a:p>
        </p:txBody>
      </p:sp>
      <p:sp>
        <p:nvSpPr>
          <p:cNvPr id="7" name="Text 5"/>
          <p:cNvSpPr/>
          <p:nvPr/>
        </p:nvSpPr>
        <p:spPr>
          <a:xfrm>
            <a:off x="274319" y="566927"/>
            <a:ext cx="1694329" cy="358229"/>
          </a:xfrm>
          <a:prstGeom prst="rect">
            <a:avLst/>
          </a:prstGeom>
          <a:noFill/>
          <a:ln/>
        </p:spPr>
        <p:txBody>
          <a:bodyPr wrap="square" lIns="0" tIns="0" rIns="0" bIns="0" rtlCol="0" anchor="ctr"/>
          <a:lstStyle/>
          <a:p>
            <a:pPr marL="0" indent="0" algn="ctr">
              <a:buNone/>
            </a:pPr>
            <a:r>
              <a:rPr lang="en-US" sz="1200" b="1" dirty="0">
                <a:solidFill>
                  <a:srgbClr val="FFFFFF"/>
                </a:solidFill>
              </a:rPr>
              <a:t>VERIFICATION SCORES</a:t>
            </a:r>
            <a:endParaRPr lang="en-US" sz="1200" dirty="0"/>
          </a:p>
        </p:txBody>
      </p:sp>
      <p:pic>
        <p:nvPicPr>
          <p:cNvPr id="8" name="Image 0" descr="preencoded.png"/>
          <p:cNvPicPr>
            <a:picLocks noChangeAspect="1"/>
          </p:cNvPicPr>
          <p:nvPr/>
        </p:nvPicPr>
        <p:blipFill>
          <a:blip r:embed="rId3"/>
          <a:stretch>
            <a:fillRect/>
          </a:stretch>
        </p:blipFill>
        <p:spPr>
          <a:xfrm>
            <a:off x="274320" y="2509535"/>
            <a:ext cx="6309360" cy="3657600"/>
          </a:xfrm>
          <a:prstGeom prst="rect">
            <a:avLst/>
          </a:prstGeom>
        </p:spPr>
      </p:pic>
      <p:sp>
        <p:nvSpPr>
          <p:cNvPr id="9" name="Shape 6"/>
          <p:cNvSpPr/>
          <p:nvPr/>
        </p:nvSpPr>
        <p:spPr>
          <a:xfrm>
            <a:off x="274320" y="6304295"/>
            <a:ext cx="6309360" cy="1722524"/>
          </a:xfrm>
          <a:prstGeom prst="rect">
            <a:avLst/>
          </a:prstGeom>
          <a:solidFill>
            <a:srgbClr val="F4F7F9"/>
          </a:solidFill>
          <a:ln w="6350">
            <a:solidFill>
              <a:srgbClr val="D0D8DF"/>
            </a:solidFill>
            <a:prstDash val="solid"/>
          </a:ln>
        </p:spPr>
        <p:txBody>
          <a:bodyPr/>
          <a:lstStyle/>
          <a:p>
            <a:endParaRPr lang="en-US"/>
          </a:p>
        </p:txBody>
      </p:sp>
      <p:sp>
        <p:nvSpPr>
          <p:cNvPr id="10" name="Text 7"/>
          <p:cNvSpPr/>
          <p:nvPr/>
        </p:nvSpPr>
        <p:spPr>
          <a:xfrm>
            <a:off x="502920" y="6368303"/>
            <a:ext cx="2743200" cy="22860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Key Takeaways</a:t>
            </a:r>
            <a:endParaRPr lang="en-US" sz="1200" dirty="0"/>
          </a:p>
        </p:txBody>
      </p:sp>
      <p:sp>
        <p:nvSpPr>
          <p:cNvPr id="11" name="Text 8"/>
          <p:cNvSpPr/>
          <p:nvPr/>
        </p:nvSpPr>
        <p:spPr>
          <a:xfrm>
            <a:off x="457200" y="6808941"/>
            <a:ext cx="5943600" cy="1005840"/>
          </a:xfrm>
          <a:prstGeom prst="rect">
            <a:avLst/>
          </a:prstGeom>
          <a:noFill/>
          <a:ln/>
        </p:spPr>
        <p:txBody>
          <a:bodyPr wrap="square" lIns="50800" tIns="50800" rIns="50800" bIns="50800" rtlCol="0" anchor="ctr"/>
          <a:lstStyle/>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Score 5 leads achieve 16.2% quality, clearly the best. Score 5 vs. others: p=0.0007 (highly significant).</a:t>
            </a:r>
            <a:endParaRPr lang="en-US" sz="1200" dirty="0"/>
          </a:p>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Pattern is non-monotonic (Score 4 dips to 7.1%), suggesting Score 5 is the only reliable positive signal.</a:t>
            </a:r>
            <a:endParaRPr lang="en-US" sz="1200" dirty="0"/>
          </a:p>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Coverage caveat: PhoneScore is only available for 46% of leads, which limits direct use as a filter.</a:t>
            </a:r>
            <a:endParaRPr lang="en-US" sz="1200" dirty="0"/>
          </a:p>
        </p:txBody>
      </p:sp>
      <p:sp>
        <p:nvSpPr>
          <p:cNvPr id="12" name="Shape 9"/>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7</a:t>
            </a:r>
            <a:endParaRPr lang="en-US" sz="800" dirty="0"/>
          </a:p>
        </p:txBody>
      </p:sp>
      <p:sp>
        <p:nvSpPr>
          <p:cNvPr id="15" name="TextBox 14">
            <a:extLst>
              <a:ext uri="{FF2B5EF4-FFF2-40B4-BE49-F238E27FC236}">
                <a16:creationId xmlns:a16="http://schemas.microsoft.com/office/drawing/2014/main" id="{267F3CF0-E672-65EF-71A5-4EB56D8E7DD4}"/>
              </a:ext>
            </a:extLst>
          </p:cNvPr>
          <p:cNvSpPr txBox="1"/>
          <p:nvPr/>
        </p:nvSpPr>
        <p:spPr>
          <a:xfrm>
            <a:off x="274320" y="1117181"/>
            <a:ext cx="6309360" cy="1200329"/>
          </a:xfrm>
          <a:prstGeom prst="rect">
            <a:avLst/>
          </a:prstGeom>
          <a:noFill/>
        </p:spPr>
        <p:txBody>
          <a:bodyPr wrap="square">
            <a:spAutoFit/>
          </a:bodyPr>
          <a:lstStyle/>
          <a:p>
            <a:pPr>
              <a:buNone/>
            </a:pPr>
            <a:r>
              <a:rPr lang="en-US" sz="1200" dirty="0" err="1"/>
              <a:t>PhoneScore</a:t>
            </a:r>
            <a:r>
              <a:rPr lang="en-US" sz="1200" dirty="0"/>
              <a:t> is a third-party lead verification signal that is only populated for 46% of leads, meaning any filter based on it immediately discards the other 54% regardless of their actual quality. We focused on whether Score 5 is a reliable positive signal by running a chi-squared test of Score 5 vs. all other scores, rather than testing the full score distribution, since the non-monotonic pattern (Score 4 dips below Score 2 and 3) suggests the intermediate scores carry no consistent directional meaning.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8</a:t>
            </a:r>
            <a:endParaRPr lang="en-US" sz="800" dirty="0"/>
          </a:p>
        </p:txBody>
      </p:sp>
      <p:sp>
        <p:nvSpPr>
          <p:cNvPr id="5" name="Text 3"/>
          <p:cNvSpPr/>
          <p:nvPr/>
        </p:nvSpPr>
        <p:spPr>
          <a:xfrm>
            <a:off x="365760" y="73152"/>
            <a:ext cx="6126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Q2 — Driver Analysis: Address Score</a:t>
            </a:r>
            <a:endParaRPr lang="en-US" sz="1300" dirty="0"/>
          </a:p>
        </p:txBody>
      </p:sp>
      <p:sp>
        <p:nvSpPr>
          <p:cNvPr id="6" name="Shape 4"/>
          <p:cNvSpPr/>
          <p:nvPr/>
        </p:nvSpPr>
        <p:spPr>
          <a:xfrm>
            <a:off x="365760" y="566928"/>
            <a:ext cx="1635162" cy="325106"/>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365760" y="566928"/>
            <a:ext cx="1635162" cy="325106"/>
          </a:xfrm>
          <a:prstGeom prst="rect">
            <a:avLst/>
          </a:prstGeom>
          <a:noFill/>
          <a:ln/>
        </p:spPr>
        <p:txBody>
          <a:bodyPr wrap="square" lIns="0" tIns="0" rIns="0" bIns="0" rtlCol="0" anchor="ctr"/>
          <a:lstStyle/>
          <a:p>
            <a:pPr marL="0" indent="0" algn="ctr">
              <a:buNone/>
            </a:pPr>
            <a:r>
              <a:rPr lang="en-US" sz="1200" b="1" dirty="0">
                <a:solidFill>
                  <a:srgbClr val="FFFFFF"/>
                </a:solidFill>
              </a:rPr>
              <a:t>VERIFICATION SCORES</a:t>
            </a:r>
            <a:endParaRPr lang="en-US" sz="1200" dirty="0"/>
          </a:p>
        </p:txBody>
      </p:sp>
      <p:pic>
        <p:nvPicPr>
          <p:cNvPr id="8" name="Image 0" descr="preencoded.png"/>
          <p:cNvPicPr>
            <a:picLocks noChangeAspect="1"/>
          </p:cNvPicPr>
          <p:nvPr/>
        </p:nvPicPr>
        <p:blipFill>
          <a:blip r:embed="rId3"/>
          <a:stretch>
            <a:fillRect/>
          </a:stretch>
        </p:blipFill>
        <p:spPr>
          <a:xfrm>
            <a:off x="274320" y="2318273"/>
            <a:ext cx="6309360" cy="3657600"/>
          </a:xfrm>
          <a:prstGeom prst="rect">
            <a:avLst/>
          </a:prstGeom>
        </p:spPr>
      </p:pic>
      <p:sp>
        <p:nvSpPr>
          <p:cNvPr id="9" name="Shape 6"/>
          <p:cNvSpPr/>
          <p:nvPr/>
        </p:nvSpPr>
        <p:spPr>
          <a:xfrm>
            <a:off x="274320" y="6113032"/>
            <a:ext cx="6309360" cy="1826111"/>
          </a:xfrm>
          <a:prstGeom prst="rect">
            <a:avLst/>
          </a:prstGeom>
          <a:solidFill>
            <a:srgbClr val="F4F7F9"/>
          </a:solidFill>
          <a:ln w="6350">
            <a:solidFill>
              <a:srgbClr val="D0D8DF"/>
            </a:solidFill>
            <a:prstDash val="solid"/>
          </a:ln>
        </p:spPr>
        <p:txBody>
          <a:bodyPr/>
          <a:lstStyle/>
          <a:p>
            <a:endParaRPr lang="en-US"/>
          </a:p>
        </p:txBody>
      </p:sp>
      <p:sp>
        <p:nvSpPr>
          <p:cNvPr id="10" name="Text 7"/>
          <p:cNvSpPr/>
          <p:nvPr/>
        </p:nvSpPr>
        <p:spPr>
          <a:xfrm>
            <a:off x="502920" y="6177041"/>
            <a:ext cx="2743200" cy="22860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Key Takeaways</a:t>
            </a:r>
            <a:endParaRPr lang="en-US" sz="1200" dirty="0"/>
          </a:p>
        </p:txBody>
      </p:sp>
      <p:sp>
        <p:nvSpPr>
          <p:cNvPr id="11" name="Text 8"/>
          <p:cNvSpPr/>
          <p:nvPr/>
        </p:nvSpPr>
        <p:spPr>
          <a:xfrm>
            <a:off x="457200" y="6584442"/>
            <a:ext cx="5943600" cy="1005840"/>
          </a:xfrm>
          <a:prstGeom prst="rect">
            <a:avLst/>
          </a:prstGeom>
          <a:noFill/>
          <a:ln/>
        </p:spPr>
        <p:txBody>
          <a:bodyPr wrap="square" lIns="50800" tIns="50800" rIns="50800" bIns="50800" rtlCol="0" anchor="ctr"/>
          <a:lstStyle/>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Unlike PhoneScore, AddressScore is non-monotonic: Score 2 is highest (18.4%) but n=38 — unreliable.</a:t>
            </a:r>
            <a:endParaRPr lang="en-US" sz="1200" dirty="0"/>
          </a:p>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Score 5 (n=868) achieves only 13.8%, barely above the overall average — limited predictive value.</a:t>
            </a:r>
            <a:endParaRPr lang="en-US" sz="1200" dirty="0"/>
          </a:p>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Coverage is only 39%. Combined with the irregular pattern, AddressScore is not recommended as a standalone filter.</a:t>
            </a:r>
            <a:endParaRPr lang="en-US" sz="1200" dirty="0"/>
          </a:p>
        </p:txBody>
      </p:sp>
      <p:sp>
        <p:nvSpPr>
          <p:cNvPr id="12" name="Shape 9"/>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8</a:t>
            </a:r>
            <a:endParaRPr lang="en-US" sz="800" dirty="0"/>
          </a:p>
        </p:txBody>
      </p:sp>
      <p:sp>
        <p:nvSpPr>
          <p:cNvPr id="15" name="TextBox 14">
            <a:extLst>
              <a:ext uri="{FF2B5EF4-FFF2-40B4-BE49-F238E27FC236}">
                <a16:creationId xmlns:a16="http://schemas.microsoft.com/office/drawing/2014/main" id="{000B15B6-79E8-AA52-F537-84EC509EF2F7}"/>
              </a:ext>
            </a:extLst>
          </p:cNvPr>
          <p:cNvSpPr txBox="1"/>
          <p:nvPr/>
        </p:nvSpPr>
        <p:spPr>
          <a:xfrm>
            <a:off x="274320" y="892885"/>
            <a:ext cx="6217920" cy="1200329"/>
          </a:xfrm>
          <a:prstGeom prst="rect">
            <a:avLst/>
          </a:prstGeom>
          <a:noFill/>
        </p:spPr>
        <p:txBody>
          <a:bodyPr wrap="square" rtlCol="0">
            <a:spAutoFit/>
          </a:bodyPr>
          <a:lstStyle/>
          <a:p>
            <a:r>
              <a:rPr lang="en-US" sz="1000" dirty="0"/>
              <a:t>We</a:t>
            </a:r>
            <a:r>
              <a:rPr lang="en-US" sz="1200" dirty="0"/>
              <a:t> applied the same Score 5 vs. others chi-squared framework to </a:t>
            </a:r>
            <a:r>
              <a:rPr lang="en-US" sz="1200" dirty="0" err="1"/>
              <a:t>AddressScore</a:t>
            </a:r>
            <a:r>
              <a:rPr lang="en-US" sz="1200" dirty="0"/>
              <a:t> for consistency. The test is technically significant (p=0.0215), but the pattern tells a different story from </a:t>
            </a:r>
            <a:r>
              <a:rPr lang="en-US" sz="1200" dirty="0" err="1"/>
              <a:t>PhoneScore</a:t>
            </a:r>
            <a:r>
              <a:rPr lang="en-US" sz="1200" dirty="0"/>
              <a:t>: Score 5 (n=868) sits at only 13.8%, barely above the overall average, while Score 2 appears highest at 18.4% but with only n=38, too small to be reliable. </a:t>
            </a:r>
          </a:p>
          <a:p>
            <a:r>
              <a:rPr lang="en-US" sz="1200" dirty="0"/>
              <a:t>This illustrates why we evaluate statistical significance alongside effect size and sample stability before recommending a variable as a filter.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9</a:t>
            </a:r>
            <a:endParaRPr lang="en-US" sz="800" dirty="0"/>
          </a:p>
        </p:txBody>
      </p:sp>
      <p:sp>
        <p:nvSpPr>
          <p:cNvPr id="5" name="Text 3"/>
          <p:cNvSpPr/>
          <p:nvPr/>
        </p:nvSpPr>
        <p:spPr>
          <a:xfrm>
            <a:off x="365760" y="73152"/>
            <a:ext cx="6126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Q2 — Driver Analysis: Debt Level × Phone Score</a:t>
            </a:r>
            <a:endParaRPr lang="en-US" sz="1300" dirty="0"/>
          </a:p>
        </p:txBody>
      </p:sp>
      <p:sp>
        <p:nvSpPr>
          <p:cNvPr id="6" name="Shape 4"/>
          <p:cNvSpPr/>
          <p:nvPr/>
        </p:nvSpPr>
        <p:spPr>
          <a:xfrm>
            <a:off x="365760" y="566928"/>
            <a:ext cx="1710466" cy="292376"/>
          </a:xfrm>
          <a:prstGeom prst="rect">
            <a:avLst/>
          </a:prstGeom>
          <a:solidFill>
            <a:srgbClr val="028090"/>
          </a:solidFill>
          <a:ln w="12700">
            <a:solidFill>
              <a:srgbClr val="028090"/>
            </a:solidFill>
            <a:prstDash val="solid"/>
          </a:ln>
        </p:spPr>
        <p:txBody>
          <a:bodyPr/>
          <a:lstStyle/>
          <a:p>
            <a:endParaRPr lang="en-US"/>
          </a:p>
        </p:txBody>
      </p:sp>
      <p:sp>
        <p:nvSpPr>
          <p:cNvPr id="7" name="Text 5"/>
          <p:cNvSpPr/>
          <p:nvPr/>
        </p:nvSpPr>
        <p:spPr>
          <a:xfrm>
            <a:off x="365760" y="566928"/>
            <a:ext cx="1710466" cy="292376"/>
          </a:xfrm>
          <a:prstGeom prst="rect">
            <a:avLst/>
          </a:prstGeom>
          <a:noFill/>
          <a:ln/>
        </p:spPr>
        <p:txBody>
          <a:bodyPr wrap="square" lIns="0" tIns="0" rIns="0" bIns="0" rtlCol="0" anchor="ctr"/>
          <a:lstStyle/>
          <a:p>
            <a:pPr marL="0" indent="0" algn="ctr">
              <a:buNone/>
            </a:pPr>
            <a:r>
              <a:rPr lang="en-US" sz="1200" b="1" dirty="0">
                <a:solidFill>
                  <a:srgbClr val="FFFFFF"/>
                </a:solidFill>
              </a:rPr>
              <a:t>INTERACTION EFFECT</a:t>
            </a:r>
            <a:endParaRPr lang="en-US" sz="1200" dirty="0"/>
          </a:p>
        </p:txBody>
      </p:sp>
      <p:pic>
        <p:nvPicPr>
          <p:cNvPr id="8" name="Image 0" descr="preencoded.png"/>
          <p:cNvPicPr>
            <a:picLocks noChangeAspect="1"/>
          </p:cNvPicPr>
          <p:nvPr/>
        </p:nvPicPr>
        <p:blipFill>
          <a:blip r:embed="rId3"/>
          <a:stretch>
            <a:fillRect/>
          </a:stretch>
        </p:blipFill>
        <p:spPr>
          <a:xfrm>
            <a:off x="274320" y="3438144"/>
            <a:ext cx="6309360" cy="3931920"/>
          </a:xfrm>
          <a:prstGeom prst="rect">
            <a:avLst/>
          </a:prstGeom>
        </p:spPr>
      </p:pic>
      <p:sp>
        <p:nvSpPr>
          <p:cNvPr id="9" name="Shape 6"/>
          <p:cNvSpPr/>
          <p:nvPr/>
        </p:nvSpPr>
        <p:spPr>
          <a:xfrm>
            <a:off x="274320" y="7370064"/>
            <a:ext cx="6309360" cy="1280160"/>
          </a:xfrm>
          <a:prstGeom prst="rect">
            <a:avLst/>
          </a:prstGeom>
          <a:solidFill>
            <a:srgbClr val="F4F7F9"/>
          </a:solidFill>
          <a:ln w="6350">
            <a:solidFill>
              <a:srgbClr val="D0D8DF"/>
            </a:solidFill>
            <a:prstDash val="solid"/>
          </a:ln>
        </p:spPr>
        <p:txBody>
          <a:bodyPr/>
          <a:lstStyle/>
          <a:p>
            <a:endParaRPr lang="en-US"/>
          </a:p>
        </p:txBody>
      </p:sp>
      <p:sp>
        <p:nvSpPr>
          <p:cNvPr id="10" name="Text 7"/>
          <p:cNvSpPr/>
          <p:nvPr/>
        </p:nvSpPr>
        <p:spPr>
          <a:xfrm>
            <a:off x="457200" y="7475220"/>
            <a:ext cx="2743200" cy="22860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Key Takeaways</a:t>
            </a:r>
            <a:endParaRPr lang="en-US" sz="1200" dirty="0"/>
          </a:p>
        </p:txBody>
      </p:sp>
      <p:sp>
        <p:nvSpPr>
          <p:cNvPr id="11" name="Text 8"/>
          <p:cNvSpPr/>
          <p:nvPr/>
        </p:nvSpPr>
        <p:spPr>
          <a:xfrm>
            <a:off x="457200" y="7808976"/>
            <a:ext cx="6126480" cy="777240"/>
          </a:xfrm>
          <a:prstGeom prst="rect">
            <a:avLst/>
          </a:prstGeom>
          <a:noFill/>
          <a:ln/>
        </p:spPr>
        <p:txBody>
          <a:bodyPr wrap="square" lIns="50800" tIns="50800" rIns="50800" bIns="50800" rtlCol="0" anchor="ctr"/>
          <a:lstStyle/>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$7.5k–$15k has no PhoneScore data at all, which confirms this band is an anomaly in the dataset.</a:t>
            </a:r>
            <a:endParaRPr lang="en-US" sz="1200" dirty="0"/>
          </a:p>
          <a:p>
            <a:pPr marL="342900" indent="-342900">
              <a:spcAft>
                <a:spcPts val="300"/>
              </a:spcAft>
              <a:buSzPct val="100000"/>
              <a:buChar char="•"/>
            </a:pPr>
            <a:r>
              <a:rPr lang="en-US" sz="1200" dirty="0">
                <a:solidFill>
                  <a:srgbClr val="0D1B2A"/>
                </a:solidFill>
                <a:latin typeface="Calibri" pitchFamily="34" charset="0"/>
                <a:ea typeface="Calibri" pitchFamily="34" charset="-122"/>
                <a:cs typeface="Calibri" pitchFamily="34" charset="-120"/>
              </a:rPr>
              <a:t>Best cell: $20k–$30k + Score 5 = 27.5% (n=80), a strong signal when both filters apply simultaneously.</a:t>
            </a:r>
            <a:endParaRPr lang="en-US" sz="1200" dirty="0"/>
          </a:p>
        </p:txBody>
      </p:sp>
      <p:sp>
        <p:nvSpPr>
          <p:cNvPr id="12" name="Shape 9"/>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3" name="Text 10"/>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9</a:t>
            </a:r>
            <a:endParaRPr lang="en-US" sz="800" dirty="0"/>
          </a:p>
        </p:txBody>
      </p:sp>
      <p:sp>
        <p:nvSpPr>
          <p:cNvPr id="15" name="TextBox 14">
            <a:extLst>
              <a:ext uri="{FF2B5EF4-FFF2-40B4-BE49-F238E27FC236}">
                <a16:creationId xmlns:a16="http://schemas.microsoft.com/office/drawing/2014/main" id="{54A2CE59-CFD9-6A8A-E9B7-03D5EC1F46EA}"/>
              </a:ext>
            </a:extLst>
          </p:cNvPr>
          <p:cNvSpPr txBox="1"/>
          <p:nvPr/>
        </p:nvSpPr>
        <p:spPr>
          <a:xfrm>
            <a:off x="274320" y="868448"/>
            <a:ext cx="6309360" cy="2308324"/>
          </a:xfrm>
          <a:prstGeom prst="rect">
            <a:avLst/>
          </a:prstGeom>
          <a:noFill/>
        </p:spPr>
        <p:txBody>
          <a:bodyPr wrap="square">
            <a:spAutoFit/>
          </a:bodyPr>
          <a:lstStyle/>
          <a:p>
            <a:pPr>
              <a:buNone/>
            </a:pPr>
            <a:r>
              <a:rPr lang="en-US" sz="1200" dirty="0"/>
              <a:t>Having identified both debt level and </a:t>
            </a:r>
            <a:r>
              <a:rPr lang="en-US" sz="1200" dirty="0" err="1"/>
              <a:t>PhoneScore</a:t>
            </a:r>
            <a:r>
              <a:rPr lang="en-US" sz="1200" dirty="0"/>
              <a:t> as independently significant drivers, the natural next question is whether they interact, i.e., whether the benefit of a high </a:t>
            </a:r>
            <a:r>
              <a:rPr lang="en-US" sz="1200" dirty="0" err="1"/>
              <a:t>PhoneScore</a:t>
            </a:r>
            <a:r>
              <a:rPr lang="en-US" sz="1200" dirty="0"/>
              <a:t> is consistent across all debt bands, or whether certain debt + score combinations are disproportionately better or worse. </a:t>
            </a:r>
          </a:p>
          <a:p>
            <a:pPr>
              <a:buNone/>
            </a:pPr>
            <a:endParaRPr lang="en-US" sz="1200" dirty="0"/>
          </a:p>
          <a:p>
            <a:pPr>
              <a:buNone/>
            </a:pPr>
            <a:r>
              <a:rPr lang="en-US" sz="1200" dirty="0"/>
              <a:t>To explore this, we built a two-dimensional pivot table with debt level on one axis and </a:t>
            </a:r>
            <a:r>
              <a:rPr lang="en-US" sz="1200" dirty="0" err="1"/>
              <a:t>PhoneScore</a:t>
            </a:r>
            <a:r>
              <a:rPr lang="en-US" sz="1200" dirty="0"/>
              <a:t> on the other, computing quality rate and sample size for each cell. This allows us to spot interaction effects that would be invisible when looking at either variable alone, and also serves as a cross-validation: if the two variables are truly independent signals, we would expect Score 5 to outperform within most debt bands, which the heatmap broadly confirms, while also revealing the $7.5k–$15k anomaly more clearly (the entire row is blank, reinforcing the data quality concern raised earlier).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E5584-895F-77F5-496C-752E820E9A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CFD764B-91A9-557D-8CA2-FAE11DB6E925}"/>
              </a:ext>
            </a:extLst>
          </p:cNvPr>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a:extLst>
              <a:ext uri="{FF2B5EF4-FFF2-40B4-BE49-F238E27FC236}">
                <a16:creationId xmlns:a16="http://schemas.microsoft.com/office/drawing/2014/main" id="{634D781B-C8E1-306A-DADF-C3B5FF92366A}"/>
              </a:ext>
            </a:extLst>
          </p:cNvPr>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a:extLst>
              <a:ext uri="{FF2B5EF4-FFF2-40B4-BE49-F238E27FC236}">
                <a16:creationId xmlns:a16="http://schemas.microsoft.com/office/drawing/2014/main" id="{01A30301-D5A3-CEB7-87C2-29447D8FBFB9}"/>
              </a:ext>
            </a:extLst>
          </p:cNvPr>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9</a:t>
            </a:r>
            <a:endParaRPr lang="en-US" sz="800" dirty="0"/>
          </a:p>
        </p:txBody>
      </p:sp>
      <p:sp>
        <p:nvSpPr>
          <p:cNvPr id="5" name="Text 3">
            <a:extLst>
              <a:ext uri="{FF2B5EF4-FFF2-40B4-BE49-F238E27FC236}">
                <a16:creationId xmlns:a16="http://schemas.microsoft.com/office/drawing/2014/main" id="{11CA781E-6E61-9778-694B-9962DB045AA4}"/>
              </a:ext>
            </a:extLst>
          </p:cNvPr>
          <p:cNvSpPr/>
          <p:nvPr/>
        </p:nvSpPr>
        <p:spPr>
          <a:xfrm>
            <a:off x="365760" y="73152"/>
            <a:ext cx="6126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Q2 — Driver Analysis: States &amp; Map</a:t>
            </a:r>
            <a:endParaRPr lang="en-US" sz="1300" dirty="0"/>
          </a:p>
        </p:txBody>
      </p:sp>
      <p:sp>
        <p:nvSpPr>
          <p:cNvPr id="6" name="Shape 4">
            <a:extLst>
              <a:ext uri="{FF2B5EF4-FFF2-40B4-BE49-F238E27FC236}">
                <a16:creationId xmlns:a16="http://schemas.microsoft.com/office/drawing/2014/main" id="{0F508BBC-44D5-C51B-FD4C-163551CA59C4}"/>
              </a:ext>
            </a:extLst>
          </p:cNvPr>
          <p:cNvSpPr/>
          <p:nvPr/>
        </p:nvSpPr>
        <p:spPr>
          <a:xfrm>
            <a:off x="365760" y="566928"/>
            <a:ext cx="1710466" cy="292376"/>
          </a:xfrm>
          <a:prstGeom prst="rect">
            <a:avLst/>
          </a:prstGeom>
          <a:solidFill>
            <a:srgbClr val="028090"/>
          </a:solidFill>
          <a:ln w="12700">
            <a:solidFill>
              <a:srgbClr val="028090"/>
            </a:solidFill>
            <a:prstDash val="solid"/>
          </a:ln>
        </p:spPr>
        <p:txBody>
          <a:bodyPr/>
          <a:lstStyle/>
          <a:p>
            <a:endParaRPr lang="en-US"/>
          </a:p>
        </p:txBody>
      </p:sp>
      <p:sp>
        <p:nvSpPr>
          <p:cNvPr id="7" name="Text 5">
            <a:extLst>
              <a:ext uri="{FF2B5EF4-FFF2-40B4-BE49-F238E27FC236}">
                <a16:creationId xmlns:a16="http://schemas.microsoft.com/office/drawing/2014/main" id="{7143EB7E-FD9A-2858-21A1-77686D0A2C73}"/>
              </a:ext>
            </a:extLst>
          </p:cNvPr>
          <p:cNvSpPr/>
          <p:nvPr/>
        </p:nvSpPr>
        <p:spPr>
          <a:xfrm>
            <a:off x="365760" y="566928"/>
            <a:ext cx="1710466" cy="292376"/>
          </a:xfrm>
          <a:prstGeom prst="rect">
            <a:avLst/>
          </a:prstGeom>
          <a:noFill/>
          <a:ln/>
        </p:spPr>
        <p:txBody>
          <a:bodyPr wrap="square" lIns="0" tIns="0" rIns="0" bIns="0" rtlCol="0" anchor="ctr"/>
          <a:lstStyle/>
          <a:p>
            <a:pPr marL="0" indent="0" algn="ctr">
              <a:buNone/>
            </a:pPr>
            <a:r>
              <a:rPr lang="en-US" sz="1200" b="1" dirty="0">
                <a:solidFill>
                  <a:srgbClr val="FFFFFF"/>
                </a:solidFill>
              </a:rPr>
              <a:t>States</a:t>
            </a:r>
            <a:endParaRPr lang="en-US" sz="1200" dirty="0"/>
          </a:p>
        </p:txBody>
      </p:sp>
      <p:sp>
        <p:nvSpPr>
          <p:cNvPr id="9" name="Shape 6">
            <a:extLst>
              <a:ext uri="{FF2B5EF4-FFF2-40B4-BE49-F238E27FC236}">
                <a16:creationId xmlns:a16="http://schemas.microsoft.com/office/drawing/2014/main" id="{BD04ED5A-BC2A-E503-D9CE-5AF065FD50A8}"/>
              </a:ext>
            </a:extLst>
          </p:cNvPr>
          <p:cNvSpPr/>
          <p:nvPr/>
        </p:nvSpPr>
        <p:spPr>
          <a:xfrm>
            <a:off x="4243892" y="2862664"/>
            <a:ext cx="2339787" cy="5233501"/>
          </a:xfrm>
          <a:prstGeom prst="rect">
            <a:avLst/>
          </a:prstGeom>
          <a:solidFill>
            <a:srgbClr val="F4F7F9"/>
          </a:solidFill>
          <a:ln w="6350">
            <a:solidFill>
              <a:srgbClr val="D0D8DF"/>
            </a:solidFill>
            <a:prstDash val="solid"/>
          </a:ln>
        </p:spPr>
        <p:txBody>
          <a:bodyPr/>
          <a:lstStyle/>
          <a:p>
            <a:endParaRPr lang="en-US" dirty="0"/>
          </a:p>
        </p:txBody>
      </p:sp>
      <p:sp>
        <p:nvSpPr>
          <p:cNvPr id="10" name="Text 7">
            <a:extLst>
              <a:ext uri="{FF2B5EF4-FFF2-40B4-BE49-F238E27FC236}">
                <a16:creationId xmlns:a16="http://schemas.microsoft.com/office/drawing/2014/main" id="{5A2B6F7C-9A0A-C7D8-2406-BA72829EA221}"/>
              </a:ext>
            </a:extLst>
          </p:cNvPr>
          <p:cNvSpPr/>
          <p:nvPr/>
        </p:nvSpPr>
        <p:spPr>
          <a:xfrm>
            <a:off x="4420691" y="3163421"/>
            <a:ext cx="1017299" cy="41632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Key Takeaways</a:t>
            </a:r>
            <a:endParaRPr lang="en-US" sz="1200" dirty="0"/>
          </a:p>
        </p:txBody>
      </p:sp>
      <p:sp>
        <p:nvSpPr>
          <p:cNvPr id="12" name="Shape 9">
            <a:extLst>
              <a:ext uri="{FF2B5EF4-FFF2-40B4-BE49-F238E27FC236}">
                <a16:creationId xmlns:a16="http://schemas.microsoft.com/office/drawing/2014/main" id="{8465A616-EDB6-FECF-CDDF-231B4687BB04}"/>
              </a:ext>
            </a:extLst>
          </p:cNvPr>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3" name="Text 10">
            <a:extLst>
              <a:ext uri="{FF2B5EF4-FFF2-40B4-BE49-F238E27FC236}">
                <a16:creationId xmlns:a16="http://schemas.microsoft.com/office/drawing/2014/main" id="{CC3908BF-6810-CE57-A79C-BF72D6FEE39A}"/>
              </a:ext>
            </a:extLst>
          </p:cNvPr>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10</a:t>
            </a:r>
            <a:endParaRPr lang="en-US" sz="800" dirty="0"/>
          </a:p>
        </p:txBody>
      </p:sp>
      <p:sp>
        <p:nvSpPr>
          <p:cNvPr id="15" name="TextBox 14">
            <a:extLst>
              <a:ext uri="{FF2B5EF4-FFF2-40B4-BE49-F238E27FC236}">
                <a16:creationId xmlns:a16="http://schemas.microsoft.com/office/drawing/2014/main" id="{0CC1D840-AAD3-5BBC-40ED-CDAA7D0447EC}"/>
              </a:ext>
            </a:extLst>
          </p:cNvPr>
          <p:cNvSpPr txBox="1"/>
          <p:nvPr/>
        </p:nvSpPr>
        <p:spPr>
          <a:xfrm>
            <a:off x="212462" y="889385"/>
            <a:ext cx="6309360" cy="2123658"/>
          </a:xfrm>
          <a:prstGeom prst="rect">
            <a:avLst/>
          </a:prstGeom>
          <a:noFill/>
        </p:spPr>
        <p:txBody>
          <a:bodyPr wrap="square">
            <a:spAutoFit/>
          </a:bodyPr>
          <a:lstStyle/>
          <a:p>
            <a:pPr>
              <a:buNone/>
            </a:pPr>
            <a:r>
              <a:rPr lang="en-US" sz="1200" dirty="0"/>
              <a:t>To explore whether geography plays a role in lead quality, we grouped leads by U.S. state and computed quality rates for all states with at least 30 leads (22 states met this threshold, covering the majority of lead volume). </a:t>
            </a:r>
          </a:p>
          <a:p>
            <a:pPr>
              <a:buNone/>
            </a:pPr>
            <a:endParaRPr lang="en-US" sz="1200" dirty="0"/>
          </a:p>
          <a:p>
            <a:pPr>
              <a:buNone/>
            </a:pPr>
            <a:r>
              <a:rPr lang="en-US" sz="1200" dirty="0"/>
              <a:t>Rather than treating each state as an independent test, we ran a single chi-squared test across all qualifying states to assess whether the distribution of quality outcomes is independent of geography — this avoids the multiple comparison problem that would arise from testing each state individually.</a:t>
            </a:r>
          </a:p>
          <a:p>
            <a:pPr>
              <a:buNone/>
            </a:pPr>
            <a:r>
              <a:rPr lang="en-US" sz="1200" dirty="0"/>
              <a:t>Please see the complete interactive plot here: </a:t>
            </a:r>
            <a:r>
              <a:rPr lang="en-US" sz="1200" dirty="0">
                <a:hlinkClick r:id="rId3"/>
              </a:rPr>
              <a:t>https://xzhu411.github.io/Aarki/state_quality_map.html</a:t>
            </a:r>
            <a:endParaRPr lang="en-US" sz="1200" dirty="0"/>
          </a:p>
          <a:p>
            <a:pPr>
              <a:buNone/>
            </a:pPr>
            <a:endParaRPr lang="en-US" sz="1200" dirty="0"/>
          </a:p>
        </p:txBody>
      </p:sp>
      <p:pic>
        <p:nvPicPr>
          <p:cNvPr id="16" name="Picture 15" descr="A map of the united states&#10;&#10;AI-generated content may be incorrect.">
            <a:extLst>
              <a:ext uri="{FF2B5EF4-FFF2-40B4-BE49-F238E27FC236}">
                <a16:creationId xmlns:a16="http://schemas.microsoft.com/office/drawing/2014/main" id="{DD78C042-DCF3-F04A-1AAE-D2EB583BC3FC}"/>
              </a:ext>
            </a:extLst>
          </p:cNvPr>
          <p:cNvPicPr>
            <a:picLocks noChangeAspect="1"/>
          </p:cNvPicPr>
          <p:nvPr/>
        </p:nvPicPr>
        <p:blipFill>
          <a:blip r:embed="rId4"/>
          <a:stretch>
            <a:fillRect/>
          </a:stretch>
        </p:blipFill>
        <p:spPr>
          <a:xfrm>
            <a:off x="274321" y="5524051"/>
            <a:ext cx="3856616" cy="2572115"/>
          </a:xfrm>
          <a:prstGeom prst="rect">
            <a:avLst/>
          </a:prstGeom>
        </p:spPr>
      </p:pic>
      <p:pic>
        <p:nvPicPr>
          <p:cNvPr id="18" name="Picture 17" descr="A map of the united states&#10;&#10;AI-generated content may be incorrect.">
            <a:extLst>
              <a:ext uri="{FF2B5EF4-FFF2-40B4-BE49-F238E27FC236}">
                <a16:creationId xmlns:a16="http://schemas.microsoft.com/office/drawing/2014/main" id="{6BA9E352-7BF9-50A5-83BB-78FD65567013}"/>
              </a:ext>
            </a:extLst>
          </p:cNvPr>
          <p:cNvPicPr>
            <a:picLocks noChangeAspect="1"/>
          </p:cNvPicPr>
          <p:nvPr/>
        </p:nvPicPr>
        <p:blipFill>
          <a:blip r:embed="rId5"/>
          <a:stretch>
            <a:fillRect/>
          </a:stretch>
        </p:blipFill>
        <p:spPr>
          <a:xfrm>
            <a:off x="274321" y="2862665"/>
            <a:ext cx="3856616" cy="2581558"/>
          </a:xfrm>
          <a:prstGeom prst="rect">
            <a:avLst/>
          </a:prstGeom>
        </p:spPr>
      </p:pic>
      <p:sp>
        <p:nvSpPr>
          <p:cNvPr id="23" name="Rectangle 5">
            <a:extLst>
              <a:ext uri="{FF2B5EF4-FFF2-40B4-BE49-F238E27FC236}">
                <a16:creationId xmlns:a16="http://schemas.microsoft.com/office/drawing/2014/main" id="{BE87F1BA-B161-4D19-FC81-4CD242EEB3BA}"/>
              </a:ext>
            </a:extLst>
          </p:cNvPr>
          <p:cNvSpPr>
            <a:spLocks noChangeArrowheads="1"/>
          </p:cNvSpPr>
          <p:nvPr/>
        </p:nvSpPr>
        <p:spPr bwMode="auto">
          <a:xfrm>
            <a:off x="4289611" y="3461802"/>
            <a:ext cx="224834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State-level quality differences are </a:t>
            </a:r>
            <a:r>
              <a:rPr kumimoji="0" lang="en-US" altLang="en-US" sz="1200" b="1" i="0" u="none" strike="noStrike" cap="none" normalizeH="0" baseline="0" dirty="0">
                <a:ln>
                  <a:noFill/>
                </a:ln>
                <a:solidFill>
                  <a:schemeClr val="tx1"/>
                </a:solidFill>
                <a:effectLst/>
                <a:latin typeface="Arial" panose="020B0604020202020204" pitchFamily="34" charset="0"/>
              </a:rPr>
              <a:t>not statistically significant</a:t>
            </a:r>
            <a:r>
              <a:rPr kumimoji="0" lang="en-US" altLang="en-US" sz="1200" b="0" i="0" u="none" strike="noStrike" cap="none" normalizeH="0" baseline="0" dirty="0">
                <a:ln>
                  <a:noFill/>
                </a:ln>
                <a:solidFill>
                  <a:schemeClr val="tx1"/>
                </a:solidFill>
                <a:effectLst/>
                <a:latin typeface="Arial" panose="020B0604020202020204" pitchFamily="34" charset="0"/>
              </a:rPr>
              <a:t> overall (chi²=15.92, p=0.77) — observed variation is consistent with random chance at current sample sizes.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Oklahoma (26.0%, n=50) and Hawaii (21.9%, n=32) show the highest rates among qualifying states, but both have relatively small samples and should not be acted on without further data.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Indiana (5.6%, n=36) and Maryland (8.2%, n=98) are the weakest performers among states with meaningful volume. </a:t>
            </a:r>
          </a:p>
        </p:txBody>
      </p:sp>
      <p:sp>
        <p:nvSpPr>
          <p:cNvPr id="25" name="TextBox 24">
            <a:extLst>
              <a:ext uri="{FF2B5EF4-FFF2-40B4-BE49-F238E27FC236}">
                <a16:creationId xmlns:a16="http://schemas.microsoft.com/office/drawing/2014/main" id="{4D6778D5-B831-445C-F173-283A9449FE16}"/>
              </a:ext>
            </a:extLst>
          </p:cNvPr>
          <p:cNvSpPr txBox="1"/>
          <p:nvPr/>
        </p:nvSpPr>
        <p:spPr>
          <a:xfrm>
            <a:off x="204396" y="8127593"/>
            <a:ext cx="6379283"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latin typeface="Arial" panose="020B0604020202020204" pitchFamily="34" charset="0"/>
              </a:rPr>
              <a:t>Conclusion: state is not a recommended filter at this stage</a:t>
            </a:r>
            <a:r>
              <a:rPr kumimoji="0" lang="en-US" altLang="en-US" sz="1200" b="0" i="0" u="none" strike="noStrike" cap="none" normalizeH="0" baseline="0" dirty="0">
                <a:ln>
                  <a:noFill/>
                </a:ln>
                <a:solidFill>
                  <a:schemeClr val="tx1"/>
                </a:solidFill>
                <a:effectLst/>
                <a:latin typeface="Arial" panose="020B0604020202020204" pitchFamily="34" charset="0"/>
              </a:rPr>
              <a:t>, but geographic patterns should be monitored as volume grows, state-level targeting could become actionable with 6–12 more months of data.</a:t>
            </a:r>
          </a:p>
        </p:txBody>
      </p:sp>
    </p:spTree>
    <p:extLst>
      <p:ext uri="{BB962C8B-B14F-4D97-AF65-F5344CB8AC3E}">
        <p14:creationId xmlns:p14="http://schemas.microsoft.com/office/powerpoint/2010/main" val="2339974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365760" y="73152"/>
            <a:ext cx="6126480" cy="34747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Q2 — Driver Analysis: Publisher Zone &amp; Campaign Type</a:t>
            </a:r>
            <a:endParaRPr lang="en-US" sz="1200" dirty="0"/>
          </a:p>
        </p:txBody>
      </p:sp>
      <p:sp>
        <p:nvSpPr>
          <p:cNvPr id="5" name="Shape 3"/>
          <p:cNvSpPr/>
          <p:nvPr/>
        </p:nvSpPr>
        <p:spPr>
          <a:xfrm>
            <a:off x="365760" y="566928"/>
            <a:ext cx="1463040" cy="201168"/>
          </a:xfrm>
          <a:prstGeom prst="rect">
            <a:avLst/>
          </a:prstGeom>
          <a:solidFill>
            <a:srgbClr val="028090"/>
          </a:solidFill>
          <a:ln w="12700">
            <a:solidFill>
              <a:srgbClr val="028090"/>
            </a:solidFill>
            <a:prstDash val="solid"/>
          </a:ln>
        </p:spPr>
        <p:txBody>
          <a:bodyPr/>
          <a:lstStyle/>
          <a:p>
            <a:endParaRPr lang="en-US" sz="1200"/>
          </a:p>
        </p:txBody>
      </p:sp>
      <p:sp>
        <p:nvSpPr>
          <p:cNvPr id="6" name="Text 4"/>
          <p:cNvSpPr/>
          <p:nvPr/>
        </p:nvSpPr>
        <p:spPr>
          <a:xfrm>
            <a:off x="365760" y="566928"/>
            <a:ext cx="1463040" cy="201168"/>
          </a:xfrm>
          <a:prstGeom prst="rect">
            <a:avLst/>
          </a:prstGeom>
          <a:noFill/>
          <a:ln/>
        </p:spPr>
        <p:txBody>
          <a:bodyPr wrap="square" lIns="0" tIns="0" rIns="0" bIns="0" rtlCol="0" anchor="ctr"/>
          <a:lstStyle/>
          <a:p>
            <a:pPr marL="0" indent="0" algn="ctr">
              <a:buNone/>
            </a:pPr>
            <a:r>
              <a:rPr lang="en-US" sz="1200" b="1" dirty="0">
                <a:solidFill>
                  <a:srgbClr val="FFFFFF"/>
                </a:solidFill>
              </a:rPr>
              <a:t>PLACEMENT</a:t>
            </a:r>
            <a:endParaRPr lang="en-US" sz="1200" dirty="0"/>
          </a:p>
        </p:txBody>
      </p:sp>
      <p:sp>
        <p:nvSpPr>
          <p:cNvPr id="7" name="Text 5"/>
          <p:cNvSpPr/>
          <p:nvPr/>
        </p:nvSpPr>
        <p:spPr>
          <a:xfrm>
            <a:off x="320040" y="822960"/>
            <a:ext cx="6217920" cy="1188720"/>
          </a:xfrm>
          <a:prstGeom prst="rect">
            <a:avLst/>
          </a:prstGeom>
          <a:noFill/>
          <a:ln/>
        </p:spPr>
        <p:txBody>
          <a:bodyPr wrap="square" lIns="76200" tIns="76200" rIns="76200" bIns="76200" rtlCol="0" anchor="t"/>
          <a:lstStyle/>
          <a:p>
            <a:pPr marL="0" indent="0">
              <a:buNone/>
            </a:pPr>
            <a:r>
              <a:rPr lang="en-US" sz="1200" dirty="0">
                <a:solidFill>
                  <a:srgbClr val="0D1B2A"/>
                </a:solidFill>
                <a:latin typeface="Calibri" pitchFamily="34" charset="0"/>
                <a:ea typeface="Calibri" pitchFamily="34" charset="-122"/>
                <a:cs typeface="Calibri" pitchFamily="34" charset="-120"/>
              </a:rPr>
              <a:t>We examined two placement-level variables: PublisherZoneName (which ad slot the creative appeared in) and PublisherCampaignName (the campaign it was served under). Notably, these two variables map 1-to-1 in this dataset, "Top Right-300x250" corresponds exactly to "DebtReductionCallCenter", and "TopLeft-302252" to "</a:t>
            </a:r>
            <a:r>
              <a:rPr lang="en-US" sz="1200" dirty="0" err="1">
                <a:solidFill>
                  <a:srgbClr val="0D1B2A"/>
                </a:solidFill>
                <a:latin typeface="Calibri" pitchFamily="34" charset="0"/>
                <a:ea typeface="Calibri" pitchFamily="34" charset="-122"/>
                <a:cs typeface="Calibri" pitchFamily="34" charset="-120"/>
              </a:rPr>
              <a:t>DebtReductionInc</a:t>
            </a:r>
            <a:r>
              <a:rPr lang="en-US" sz="1200" dirty="0">
                <a:solidFill>
                  <a:srgbClr val="0D1B2A"/>
                </a:solidFill>
                <a:latin typeface="Calibri" pitchFamily="34" charset="0"/>
                <a:ea typeface="Calibri" pitchFamily="34" charset="-122"/>
                <a:cs typeface="Calibri" pitchFamily="34" charset="-120"/>
              </a:rPr>
              <a:t>”, meaning they capture the same underlying split from two different angles. </a:t>
            </a:r>
          </a:p>
          <a:p>
            <a:pPr marL="0" indent="0">
              <a:buNone/>
            </a:pPr>
            <a:endParaRPr lang="en-US" sz="1200" dirty="0">
              <a:solidFill>
                <a:srgbClr val="0D1B2A"/>
              </a:solidFill>
              <a:latin typeface="Calibri" pitchFamily="34" charset="0"/>
              <a:ea typeface="Calibri" pitchFamily="34" charset="-122"/>
              <a:cs typeface="Calibri" pitchFamily="34" charset="-120"/>
            </a:endParaRPr>
          </a:p>
          <a:p>
            <a:pPr marL="0" indent="0">
              <a:buNone/>
            </a:pPr>
            <a:r>
              <a:rPr lang="en-US" sz="1200" dirty="0">
                <a:solidFill>
                  <a:srgbClr val="0D1B2A"/>
                </a:solidFill>
                <a:latin typeface="Calibri" pitchFamily="34" charset="0"/>
                <a:ea typeface="Calibri" pitchFamily="34" charset="-122"/>
                <a:cs typeface="Calibri" pitchFamily="34" charset="-120"/>
              </a:rPr>
              <a:t>We also looked at AdvertiserCampaignName to check whether branded vs. generic demand-side targeting drives any quality difference.</a:t>
            </a:r>
            <a:endParaRPr lang="en-US" sz="1200" dirty="0"/>
          </a:p>
        </p:txBody>
      </p:sp>
      <p:sp>
        <p:nvSpPr>
          <p:cNvPr id="8" name="Text 6"/>
          <p:cNvSpPr/>
          <p:nvPr/>
        </p:nvSpPr>
        <p:spPr>
          <a:xfrm>
            <a:off x="320040" y="2503842"/>
            <a:ext cx="3657600" cy="22860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Publisher Zone / Campaign Type</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3353353835"/>
              </p:ext>
            </p:extLst>
          </p:nvPr>
        </p:nvGraphicFramePr>
        <p:xfrm>
          <a:off x="320039" y="2750730"/>
          <a:ext cx="5919395" cy="944880"/>
        </p:xfrm>
        <a:graphic>
          <a:graphicData uri="http://schemas.openxmlformats.org/drawingml/2006/table">
            <a:tbl>
              <a:tblPr/>
              <a:tblGrid>
                <a:gridCol w="2717099">
                  <a:extLst>
                    <a:ext uri="{9D8B030D-6E8A-4147-A177-3AD203B41FA5}">
                      <a16:colId xmlns:a16="http://schemas.microsoft.com/office/drawing/2014/main" val="20000"/>
                    </a:ext>
                  </a:extLst>
                </a:gridCol>
                <a:gridCol w="776314">
                  <a:extLst>
                    <a:ext uri="{9D8B030D-6E8A-4147-A177-3AD203B41FA5}">
                      <a16:colId xmlns:a16="http://schemas.microsoft.com/office/drawing/2014/main" val="20001"/>
                    </a:ext>
                  </a:extLst>
                </a:gridCol>
                <a:gridCol w="679275">
                  <a:extLst>
                    <a:ext uri="{9D8B030D-6E8A-4147-A177-3AD203B41FA5}">
                      <a16:colId xmlns:a16="http://schemas.microsoft.com/office/drawing/2014/main" val="20002"/>
                    </a:ext>
                  </a:extLst>
                </a:gridCol>
                <a:gridCol w="679275">
                  <a:extLst>
                    <a:ext uri="{9D8B030D-6E8A-4147-A177-3AD203B41FA5}">
                      <a16:colId xmlns:a16="http://schemas.microsoft.com/office/drawing/2014/main" val="20003"/>
                    </a:ext>
                  </a:extLst>
                </a:gridCol>
                <a:gridCol w="1067432">
                  <a:extLst>
                    <a:ext uri="{9D8B030D-6E8A-4147-A177-3AD203B41FA5}">
                      <a16:colId xmlns:a16="http://schemas.microsoft.com/office/drawing/2014/main" val="20004"/>
                    </a:ext>
                  </a:extLst>
                </a:gridCol>
              </a:tblGrid>
              <a:tr h="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Zone / Campaign</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Leads</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Good</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Bad</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Quality Rate</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0">
                <a:tc>
                  <a:txBody>
                    <a:bodyPr/>
                    <a:lstStyle/>
                    <a:p>
                      <a:pPr marL="0" indent="0" algn="ctr">
                        <a:buNone/>
                      </a:pPr>
                      <a:r>
                        <a:rPr lang="en-US" sz="1100" dirty="0">
                          <a:solidFill>
                            <a:srgbClr val="0D1B2A"/>
                          </a:solidFill>
                          <a:latin typeface="Calibri" pitchFamily="34" charset="0"/>
                          <a:ea typeface="Calibri" pitchFamily="34" charset="-122"/>
                          <a:cs typeface="Calibri" pitchFamily="34" charset="-120"/>
                        </a:rPr>
                        <a:t>Top Right-300x250 (DebtReductionCallCenter)</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100" dirty="0">
                          <a:solidFill>
                            <a:srgbClr val="0D1B2A"/>
                          </a:solidFill>
                          <a:latin typeface="Calibri" pitchFamily="34" charset="0"/>
                          <a:ea typeface="Calibri" pitchFamily="34" charset="-122"/>
                          <a:cs typeface="Calibri" pitchFamily="34" charset="-120"/>
                        </a:rPr>
                        <a:t>271</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100" dirty="0">
                          <a:solidFill>
                            <a:srgbClr val="0D1B2A"/>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100" dirty="0">
                          <a:solidFill>
                            <a:srgbClr val="0D1B2A"/>
                          </a:solidFill>
                          <a:latin typeface="Calibri" pitchFamily="34" charset="0"/>
                          <a:ea typeface="Calibri" pitchFamily="34" charset="-122"/>
                          <a:cs typeface="Calibri" pitchFamily="34" charset="-120"/>
                        </a:rPr>
                        <a:t>66</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100" b="1" dirty="0">
                          <a:solidFill>
                            <a:srgbClr val="028090"/>
                          </a:solidFill>
                          <a:latin typeface="Calibri" pitchFamily="34" charset="0"/>
                          <a:ea typeface="Calibri" pitchFamily="34" charset="-122"/>
                          <a:cs typeface="Calibri" pitchFamily="34" charset="-120"/>
                        </a:rPr>
                        <a:t>16.2%</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1100" dirty="0">
                          <a:solidFill>
                            <a:srgbClr val="0D1B2A"/>
                          </a:solidFill>
                          <a:latin typeface="Calibri" pitchFamily="34" charset="0"/>
                          <a:ea typeface="Calibri" pitchFamily="34" charset="-122"/>
                          <a:cs typeface="Calibri" pitchFamily="34" charset="-120"/>
                        </a:rPr>
                        <a:t>TopLeft-302252 (DebtReductionInc)</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100" dirty="0">
                          <a:solidFill>
                            <a:srgbClr val="0D1B2A"/>
                          </a:solidFill>
                          <a:latin typeface="Calibri" pitchFamily="34" charset="0"/>
                          <a:ea typeface="Calibri" pitchFamily="34" charset="-122"/>
                          <a:cs typeface="Calibri" pitchFamily="34" charset="-120"/>
                        </a:rPr>
                        <a:t>2,742</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100" dirty="0">
                          <a:solidFill>
                            <a:srgbClr val="0D1B2A"/>
                          </a:solidFill>
                          <a:latin typeface="Calibri" pitchFamily="34" charset="0"/>
                          <a:ea typeface="Calibri" pitchFamily="34" charset="-122"/>
                          <a:cs typeface="Calibri" pitchFamily="34" charset="-120"/>
                        </a:rPr>
                        <a:t>349</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100" dirty="0">
                          <a:solidFill>
                            <a:srgbClr val="0D1B2A"/>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100" dirty="0">
                          <a:solidFill>
                            <a:srgbClr val="0D1B2A"/>
                          </a:solidFill>
                          <a:latin typeface="Calibri" pitchFamily="34" charset="0"/>
                          <a:ea typeface="Calibri" pitchFamily="34" charset="-122"/>
                          <a:cs typeface="Calibri" pitchFamily="34" charset="-120"/>
                        </a:rPr>
                        <a:t>12.7%</a:t>
                      </a:r>
                      <a:endParaRPr lang="en-US" sz="11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Text 7"/>
          <p:cNvSpPr/>
          <p:nvPr/>
        </p:nvSpPr>
        <p:spPr>
          <a:xfrm>
            <a:off x="320040" y="3957738"/>
            <a:ext cx="3657600" cy="22860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Advertiser Campaign (Demand-Side)</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3880739333"/>
              </p:ext>
            </p:extLst>
          </p:nvPr>
        </p:nvGraphicFramePr>
        <p:xfrm>
          <a:off x="320040" y="4186338"/>
          <a:ext cx="5919395" cy="822960"/>
        </p:xfrm>
        <a:graphic>
          <a:graphicData uri="http://schemas.openxmlformats.org/drawingml/2006/table">
            <a:tbl>
              <a:tblPr/>
              <a:tblGrid>
                <a:gridCol w="2717099">
                  <a:extLst>
                    <a:ext uri="{9D8B030D-6E8A-4147-A177-3AD203B41FA5}">
                      <a16:colId xmlns:a16="http://schemas.microsoft.com/office/drawing/2014/main" val="20000"/>
                    </a:ext>
                  </a:extLst>
                </a:gridCol>
                <a:gridCol w="776314">
                  <a:extLst>
                    <a:ext uri="{9D8B030D-6E8A-4147-A177-3AD203B41FA5}">
                      <a16:colId xmlns:a16="http://schemas.microsoft.com/office/drawing/2014/main" val="20001"/>
                    </a:ext>
                  </a:extLst>
                </a:gridCol>
                <a:gridCol w="679275">
                  <a:extLst>
                    <a:ext uri="{9D8B030D-6E8A-4147-A177-3AD203B41FA5}">
                      <a16:colId xmlns:a16="http://schemas.microsoft.com/office/drawing/2014/main" val="20002"/>
                    </a:ext>
                  </a:extLst>
                </a:gridCol>
                <a:gridCol w="679275">
                  <a:extLst>
                    <a:ext uri="{9D8B030D-6E8A-4147-A177-3AD203B41FA5}">
                      <a16:colId xmlns:a16="http://schemas.microsoft.com/office/drawing/2014/main" val="20003"/>
                    </a:ext>
                  </a:extLst>
                </a:gridCol>
                <a:gridCol w="1067432">
                  <a:extLst>
                    <a:ext uri="{9D8B030D-6E8A-4147-A177-3AD203B41FA5}">
                      <a16:colId xmlns:a16="http://schemas.microsoft.com/office/drawing/2014/main" val="20004"/>
                    </a:ext>
                  </a:extLst>
                </a:gridCol>
              </a:tblGrid>
              <a:tr h="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Campaign</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Leads</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Good</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Bad</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Quality Rate</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Debt Settlement1 Master</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1,810</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236</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298</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13.0%</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creditsolutions-branded-shortform</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1,203</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157</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190</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13.1%</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9" name="Shape 8"/>
          <p:cNvSpPr/>
          <p:nvPr/>
        </p:nvSpPr>
        <p:spPr>
          <a:xfrm>
            <a:off x="274320" y="5493930"/>
            <a:ext cx="6309360" cy="2697480"/>
          </a:xfrm>
          <a:prstGeom prst="rect">
            <a:avLst/>
          </a:prstGeom>
          <a:solidFill>
            <a:srgbClr val="F4F7F9"/>
          </a:solidFill>
          <a:ln w="6350">
            <a:solidFill>
              <a:srgbClr val="D0D8DF"/>
            </a:solidFill>
            <a:prstDash val="solid"/>
          </a:ln>
        </p:spPr>
        <p:txBody>
          <a:bodyPr/>
          <a:lstStyle/>
          <a:p>
            <a:endParaRPr lang="en-US" sz="1200"/>
          </a:p>
        </p:txBody>
      </p:sp>
      <p:sp>
        <p:nvSpPr>
          <p:cNvPr id="13" name="Text 9"/>
          <p:cNvSpPr/>
          <p:nvPr/>
        </p:nvSpPr>
        <p:spPr>
          <a:xfrm>
            <a:off x="502920" y="5557938"/>
            <a:ext cx="2743200" cy="22860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Key Takeaways</a:t>
            </a:r>
            <a:endParaRPr lang="en-US" sz="1200" dirty="0"/>
          </a:p>
        </p:txBody>
      </p:sp>
      <p:sp>
        <p:nvSpPr>
          <p:cNvPr id="14" name="Text 10"/>
          <p:cNvSpPr/>
          <p:nvPr/>
        </p:nvSpPr>
        <p:spPr>
          <a:xfrm>
            <a:off x="457200" y="5928001"/>
            <a:ext cx="5943600" cy="2039650"/>
          </a:xfrm>
          <a:prstGeom prst="rect">
            <a:avLst/>
          </a:prstGeom>
          <a:noFill/>
          <a:ln/>
        </p:spPr>
        <p:txBody>
          <a:bodyPr wrap="square" lIns="50800" tIns="50800" rIns="50800" bIns="50800" rtlCol="0" anchor="ctr"/>
          <a:lstStyle/>
          <a:p>
            <a:pPr marL="342900" indent="-342900">
              <a:spcAft>
                <a:spcPts val="400"/>
              </a:spcAft>
              <a:buSzPct val="100000"/>
              <a:buChar char="•"/>
            </a:pPr>
            <a:r>
              <a:rPr lang="en-US" sz="1200" dirty="0">
                <a:solidFill>
                  <a:srgbClr val="0D1B2A"/>
                </a:solidFill>
                <a:latin typeface="Calibri" pitchFamily="34" charset="0"/>
                <a:ea typeface="Calibri" pitchFamily="34" charset="-122"/>
                <a:cs typeface="Calibri" pitchFamily="34" charset="-120"/>
              </a:rPr>
              <a:t>Top Right-300x250 (16.2%) outperforms TopLeft-302252 (12.7%) by ~3.5pp. No chi-squared was run as there are only two groups, the directional difference is clear but should be interpreted alongside other variables, since this split also aligns with the Call Center vs. organic traffic split.</a:t>
            </a:r>
            <a:endParaRPr lang="en-US" sz="1200" dirty="0"/>
          </a:p>
          <a:p>
            <a:pPr marL="342900" indent="-342900">
              <a:spcAft>
                <a:spcPts val="400"/>
              </a:spcAft>
              <a:buSzPct val="100000"/>
              <a:buChar char="•"/>
            </a:pPr>
            <a:r>
              <a:rPr lang="en-US" sz="1200" dirty="0">
                <a:solidFill>
                  <a:srgbClr val="0D1B2A"/>
                </a:solidFill>
                <a:latin typeface="Calibri" pitchFamily="34" charset="0"/>
                <a:ea typeface="Calibri" pitchFamily="34" charset="-122"/>
                <a:cs typeface="Calibri" pitchFamily="34" charset="-120"/>
              </a:rPr>
              <a:t>Advertiser campaign shows virtually no quality difference (13.0% vs. 13.1%), branded vs. generic demand-side targeting does not appear to affect lead quality in this dataset.</a:t>
            </a:r>
            <a:endParaRPr lang="en-US" sz="1200" dirty="0"/>
          </a:p>
          <a:p>
            <a:pPr marL="342900" indent="-342900">
              <a:spcAft>
                <a:spcPts val="400"/>
              </a:spcAft>
              <a:buSzPct val="100000"/>
              <a:buChar char="•"/>
            </a:pPr>
            <a:r>
              <a:rPr lang="en-US" sz="1200" dirty="0">
                <a:solidFill>
                  <a:srgbClr val="0D1B2A"/>
                </a:solidFill>
                <a:latin typeface="Calibri" pitchFamily="34" charset="0"/>
                <a:ea typeface="Calibri" pitchFamily="34" charset="-122"/>
                <a:cs typeface="Calibri" pitchFamily="34" charset="-120"/>
              </a:rPr>
              <a:t>The 1-to-1 mapping between PublisherZoneName and PublisherCampaignName means these two fields are redundant. The meaningful driver is likely the underlying traffic source (Call Center vs. organic), which is better captured by the Partner and TrafficType analysis.</a:t>
            </a:r>
            <a:endParaRPr lang="en-US" sz="1200" dirty="0"/>
          </a:p>
        </p:txBody>
      </p:sp>
      <p:sp>
        <p:nvSpPr>
          <p:cNvPr id="15" name="Shape 1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dirty="0"/>
          </a:p>
        </p:txBody>
      </p:sp>
      <p:sp>
        <p:nvSpPr>
          <p:cNvPr id="11" name="Text 10">
            <a:extLst>
              <a:ext uri="{FF2B5EF4-FFF2-40B4-BE49-F238E27FC236}">
                <a16:creationId xmlns:a16="http://schemas.microsoft.com/office/drawing/2014/main" id="{CAECFE74-8FDD-A31E-33F2-F26326E8B997}"/>
              </a:ext>
            </a:extLst>
          </p:cNvPr>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11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365760" y="73152"/>
            <a:ext cx="6126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Q2 — Driver Analysis: Marketing Campaign</a:t>
            </a:r>
            <a:endParaRPr lang="en-US" sz="1300" dirty="0"/>
          </a:p>
        </p:txBody>
      </p:sp>
      <p:sp>
        <p:nvSpPr>
          <p:cNvPr id="5" name="Shape 3"/>
          <p:cNvSpPr/>
          <p:nvPr/>
        </p:nvSpPr>
        <p:spPr>
          <a:xfrm>
            <a:off x="365760" y="566928"/>
            <a:ext cx="1570616" cy="256032"/>
          </a:xfrm>
          <a:prstGeom prst="rect">
            <a:avLst/>
          </a:prstGeom>
          <a:solidFill>
            <a:srgbClr val="028090"/>
          </a:solidFill>
          <a:ln w="12700">
            <a:solidFill>
              <a:srgbClr val="028090"/>
            </a:solidFill>
            <a:prstDash val="solid"/>
          </a:ln>
        </p:spPr>
        <p:txBody>
          <a:bodyPr/>
          <a:lstStyle/>
          <a:p>
            <a:endParaRPr lang="en-US" sz="1200"/>
          </a:p>
        </p:txBody>
      </p:sp>
      <p:sp>
        <p:nvSpPr>
          <p:cNvPr id="6" name="Text 4"/>
          <p:cNvSpPr/>
          <p:nvPr/>
        </p:nvSpPr>
        <p:spPr>
          <a:xfrm>
            <a:off x="365760" y="566928"/>
            <a:ext cx="1570616" cy="256032"/>
          </a:xfrm>
          <a:prstGeom prst="rect">
            <a:avLst/>
          </a:prstGeom>
          <a:noFill/>
          <a:ln/>
        </p:spPr>
        <p:txBody>
          <a:bodyPr wrap="square" lIns="0" tIns="0" rIns="0" bIns="0" rtlCol="0" anchor="ctr"/>
          <a:lstStyle/>
          <a:p>
            <a:pPr marL="0" indent="0" algn="ctr">
              <a:buNone/>
            </a:pPr>
            <a:r>
              <a:rPr lang="en-US" sz="1200" b="1" dirty="0">
                <a:solidFill>
                  <a:srgbClr val="FFFFFF"/>
                </a:solidFill>
              </a:rPr>
              <a:t>CAMPAIGN</a:t>
            </a:r>
            <a:endParaRPr lang="en-US" sz="1200" dirty="0"/>
          </a:p>
        </p:txBody>
      </p:sp>
      <p:sp>
        <p:nvSpPr>
          <p:cNvPr id="7" name="Text 5"/>
          <p:cNvSpPr/>
          <p:nvPr/>
        </p:nvSpPr>
        <p:spPr>
          <a:xfrm>
            <a:off x="320040" y="822960"/>
            <a:ext cx="6217920" cy="1097280"/>
          </a:xfrm>
          <a:prstGeom prst="rect">
            <a:avLst/>
          </a:prstGeom>
          <a:noFill/>
          <a:ln/>
        </p:spPr>
        <p:txBody>
          <a:bodyPr wrap="square" lIns="76200" tIns="76200" rIns="76200" bIns="76200" rtlCol="0" anchor="t"/>
          <a:lstStyle/>
          <a:p>
            <a:r>
              <a:rPr lang="en-US" sz="1200" dirty="0" err="1">
                <a:solidFill>
                  <a:srgbClr val="0D1B2A"/>
                </a:solidFill>
                <a:latin typeface="Calibri" pitchFamily="34" charset="0"/>
                <a:ea typeface="Calibri" pitchFamily="34" charset="-122"/>
                <a:cs typeface="Calibri" pitchFamily="34" charset="-120"/>
              </a:rPr>
              <a:t>MarketingCampaign</a:t>
            </a:r>
            <a:r>
              <a:rPr lang="en-US" sz="1200" dirty="0">
                <a:solidFill>
                  <a:srgbClr val="0D1B2A"/>
                </a:solidFill>
                <a:latin typeface="Calibri" pitchFamily="34" charset="0"/>
                <a:ea typeface="Calibri" pitchFamily="34" charset="-122"/>
                <a:cs typeface="Calibri" pitchFamily="34" charset="-120"/>
              </a:rPr>
              <a:t> represents the search or advertising campaign label associated with each lead (e.g., AdWords campaign groups). These labels likely reflect differences in keyword targeting, traffic routing, or advertising channel configuration on the demand side.</a:t>
            </a:r>
          </a:p>
          <a:p>
            <a:r>
              <a:rPr lang="en-US" sz="1200" dirty="0">
                <a:solidFill>
                  <a:srgbClr val="0D1B2A"/>
                </a:solidFill>
                <a:latin typeface="Calibri" pitchFamily="34" charset="0"/>
                <a:ea typeface="Calibri" pitchFamily="34" charset="-122"/>
                <a:cs typeface="Calibri" pitchFamily="34" charset="-120"/>
              </a:rPr>
              <a:t>To evaluate whether campaign segmentation is associated with lead quality, we grouped leads by campaign name and filtered to campaigns with at least 30 leads to ensure stable estimates. We then compared quality rates across campaigns and conducted a chi-squared test to assess whether differences across campaign groups are statistically significant.</a:t>
            </a:r>
          </a:p>
        </p:txBody>
      </p:sp>
      <p:sp>
        <p:nvSpPr>
          <p:cNvPr id="8" name="Text 6"/>
          <p:cNvSpPr/>
          <p:nvPr/>
        </p:nvSpPr>
        <p:spPr>
          <a:xfrm>
            <a:off x="320040" y="2221992"/>
            <a:ext cx="4572000" cy="22860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Quality Rate by Marketing Campaign  (n ≥ 30)</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2842231486"/>
              </p:ext>
            </p:extLst>
          </p:nvPr>
        </p:nvGraphicFramePr>
        <p:xfrm>
          <a:off x="320040" y="2468880"/>
          <a:ext cx="6080760" cy="2468880"/>
        </p:xfrm>
        <a:graphic>
          <a:graphicData uri="http://schemas.openxmlformats.org/drawingml/2006/table">
            <a:tbl>
              <a:tblPr/>
              <a:tblGrid>
                <a:gridCol w="2634996">
                  <a:extLst>
                    <a:ext uri="{9D8B030D-6E8A-4147-A177-3AD203B41FA5}">
                      <a16:colId xmlns:a16="http://schemas.microsoft.com/office/drawing/2014/main" val="20000"/>
                    </a:ext>
                  </a:extLst>
                </a:gridCol>
                <a:gridCol w="810768">
                  <a:extLst>
                    <a:ext uri="{9D8B030D-6E8A-4147-A177-3AD203B41FA5}">
                      <a16:colId xmlns:a16="http://schemas.microsoft.com/office/drawing/2014/main" val="20001"/>
                    </a:ext>
                  </a:extLst>
                </a:gridCol>
                <a:gridCol w="709422">
                  <a:extLst>
                    <a:ext uri="{9D8B030D-6E8A-4147-A177-3AD203B41FA5}">
                      <a16:colId xmlns:a16="http://schemas.microsoft.com/office/drawing/2014/main" val="20002"/>
                    </a:ext>
                  </a:extLst>
                </a:gridCol>
                <a:gridCol w="709422">
                  <a:extLst>
                    <a:ext uri="{9D8B030D-6E8A-4147-A177-3AD203B41FA5}">
                      <a16:colId xmlns:a16="http://schemas.microsoft.com/office/drawing/2014/main" val="20003"/>
                    </a:ext>
                  </a:extLst>
                </a:gridCol>
                <a:gridCol w="1216152">
                  <a:extLst>
                    <a:ext uri="{9D8B030D-6E8A-4147-A177-3AD203B41FA5}">
                      <a16:colId xmlns:a16="http://schemas.microsoft.com/office/drawing/2014/main" val="20004"/>
                    </a:ext>
                  </a:extLst>
                </a:gridCol>
              </a:tblGrid>
              <a:tr h="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Marketing Campaign</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Leads</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Good</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Bad</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Quality Rate</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Financial Services</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171</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b="1" dirty="0">
                          <a:solidFill>
                            <a:srgbClr val="028090"/>
                          </a:solidFill>
                          <a:latin typeface="Calibri" pitchFamily="34" charset="0"/>
                          <a:ea typeface="Calibri" pitchFamily="34" charset="-122"/>
                          <a:cs typeface="Calibri" pitchFamily="34" charset="-120"/>
                        </a:rPr>
                        <a:t>18.7%</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Debt Holding Tank</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337</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61</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b="1" dirty="0">
                          <a:solidFill>
                            <a:srgbClr val="028090"/>
                          </a:solidFill>
                          <a:latin typeface="Calibri" pitchFamily="34" charset="0"/>
                          <a:ea typeface="Calibri" pitchFamily="34" charset="-122"/>
                          <a:cs typeface="Calibri" pitchFamily="34" charset="-120"/>
                        </a:rPr>
                        <a:t>18.1%</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Debt Volume</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143</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16.1%</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state</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97</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12.4%</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Debt Consolidation</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34</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11.8%</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DebtReductionInc</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1,468</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166</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227</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11.3%</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Debt General</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328</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dirty="0">
                          <a:solidFill>
                            <a:srgbClr val="0D1B2A"/>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tc>
                  <a:txBody>
                    <a:bodyPr/>
                    <a:lstStyle/>
                    <a:p>
                      <a:pPr marL="0" indent="0" algn="ctr">
                        <a:buNone/>
                      </a:pPr>
                      <a:r>
                        <a:rPr lang="en-US" sz="1200" b="1" dirty="0">
                          <a:solidFill>
                            <a:srgbClr val="E84855"/>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anchor="ctr">
                    <a:lnL w="6350" cap="flat" cmpd="sng" algn="ctr">
                      <a:solidFill>
                        <a:srgbClr val="D0D8DF"/>
                      </a:solidFill>
                      <a:prstDash val="solid"/>
                      <a:round/>
                      <a:headEnd type="none" w="med" len="med"/>
                      <a:tailEnd type="none" w="med" len="med"/>
                    </a:lnL>
                    <a:lnR w="6350" cap="flat" cmpd="sng" algn="ctr">
                      <a:solidFill>
                        <a:srgbClr val="D0D8DF"/>
                      </a:solidFill>
                      <a:prstDash val="solid"/>
                      <a:round/>
                      <a:headEnd type="none" w="med" len="med"/>
                      <a:tailEnd type="none" w="med" len="med"/>
                    </a:lnR>
                    <a:lnT w="6350" cap="flat" cmpd="sng" algn="ctr">
                      <a:solidFill>
                        <a:srgbClr val="D0D8DF"/>
                      </a:solidFill>
                      <a:prstDash val="solid"/>
                      <a:round/>
                      <a:headEnd type="none" w="med" len="med"/>
                      <a:tailEnd type="none" w="med" len="med"/>
                    </a:lnT>
                    <a:lnB w="6350" cap="flat" cmpd="sng" algn="ctr">
                      <a:solidFill>
                        <a:srgbClr val="D0D8DF"/>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0" name="Shape 7"/>
          <p:cNvSpPr/>
          <p:nvPr/>
        </p:nvSpPr>
        <p:spPr>
          <a:xfrm>
            <a:off x="320040" y="5146729"/>
            <a:ext cx="6217920" cy="365760"/>
          </a:xfrm>
          <a:prstGeom prst="rect">
            <a:avLst/>
          </a:prstGeom>
          <a:solidFill>
            <a:srgbClr val="E8F7F8"/>
          </a:solidFill>
          <a:ln w="6350">
            <a:solidFill>
              <a:srgbClr val="028090"/>
            </a:solidFill>
            <a:prstDash val="solid"/>
          </a:ln>
        </p:spPr>
        <p:txBody>
          <a:bodyPr/>
          <a:lstStyle/>
          <a:p>
            <a:endParaRPr lang="en-US" sz="1200"/>
          </a:p>
        </p:txBody>
      </p:sp>
      <p:sp>
        <p:nvSpPr>
          <p:cNvPr id="11" name="Text 8"/>
          <p:cNvSpPr/>
          <p:nvPr/>
        </p:nvSpPr>
        <p:spPr>
          <a:xfrm>
            <a:off x="411480" y="5146729"/>
            <a:ext cx="6035040" cy="36576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Chi-squared test (all campaigns, n≥30):  chi² = 35.26,  p &lt; 0.0001  →  SIGNIFICANT</a:t>
            </a:r>
            <a:endParaRPr lang="en-US" sz="1200" dirty="0"/>
          </a:p>
        </p:txBody>
      </p:sp>
      <p:sp>
        <p:nvSpPr>
          <p:cNvPr id="12" name="Shape 9"/>
          <p:cNvSpPr/>
          <p:nvPr/>
        </p:nvSpPr>
        <p:spPr>
          <a:xfrm>
            <a:off x="274320" y="5603928"/>
            <a:ext cx="6309360" cy="2178961"/>
          </a:xfrm>
          <a:prstGeom prst="rect">
            <a:avLst/>
          </a:prstGeom>
          <a:solidFill>
            <a:srgbClr val="F4F7F9"/>
          </a:solidFill>
          <a:ln w="6350">
            <a:solidFill>
              <a:srgbClr val="D0D8DF"/>
            </a:solidFill>
            <a:prstDash val="solid"/>
          </a:ln>
        </p:spPr>
        <p:txBody>
          <a:bodyPr/>
          <a:lstStyle/>
          <a:p>
            <a:endParaRPr lang="en-US" sz="1200"/>
          </a:p>
        </p:txBody>
      </p:sp>
      <p:sp>
        <p:nvSpPr>
          <p:cNvPr id="9" name="Text 10"/>
          <p:cNvSpPr/>
          <p:nvPr/>
        </p:nvSpPr>
        <p:spPr>
          <a:xfrm>
            <a:off x="502920" y="5667937"/>
            <a:ext cx="2743200" cy="228600"/>
          </a:xfrm>
          <a:prstGeom prst="rect">
            <a:avLst/>
          </a:prstGeom>
          <a:noFill/>
          <a:ln/>
        </p:spPr>
        <p:txBody>
          <a:bodyPr wrap="square" lIns="0" tIns="0" rIns="0" bIns="0"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Key Takeaways</a:t>
            </a:r>
            <a:endParaRPr lang="en-US" sz="1200" dirty="0"/>
          </a:p>
        </p:txBody>
      </p:sp>
      <p:sp>
        <p:nvSpPr>
          <p:cNvPr id="14" name="Text 11"/>
          <p:cNvSpPr/>
          <p:nvPr/>
        </p:nvSpPr>
        <p:spPr>
          <a:xfrm>
            <a:off x="457200" y="6060860"/>
            <a:ext cx="5943600" cy="1325880"/>
          </a:xfrm>
          <a:prstGeom prst="rect">
            <a:avLst/>
          </a:prstGeom>
          <a:noFill/>
          <a:ln/>
        </p:spPr>
        <p:txBody>
          <a:bodyPr wrap="square" lIns="50800" tIns="50800" rIns="50800" bIns="50800" rtlCol="0" anchor="ctr"/>
          <a:lstStyle/>
          <a:p>
            <a:pPr marL="342900" indent="-342900">
              <a:spcAft>
                <a:spcPts val="400"/>
              </a:spcAft>
              <a:buSzPct val="100000"/>
              <a:buChar char="•"/>
            </a:pPr>
            <a:r>
              <a:rPr lang="en-US" sz="1200" dirty="0">
                <a:solidFill>
                  <a:srgbClr val="0D1B2A"/>
                </a:solidFill>
                <a:latin typeface="Calibri" pitchFamily="34" charset="0"/>
                <a:ea typeface="Calibri" pitchFamily="34" charset="-122"/>
                <a:cs typeface="Calibri" pitchFamily="34" charset="-120"/>
              </a:rPr>
              <a:t>Campaign group is significantly associated with lead quality (chi²=35.26, p&lt;0.0001), suggesting that different search campaigns or keyword groups generate leads with different quality profiles.</a:t>
            </a:r>
          </a:p>
          <a:p>
            <a:pPr marL="342900" indent="-342900">
              <a:spcAft>
                <a:spcPts val="400"/>
              </a:spcAft>
              <a:buSzPct val="100000"/>
              <a:buChar char="•"/>
            </a:pPr>
            <a:r>
              <a:rPr lang="en-US" sz="1200" dirty="0">
                <a:solidFill>
                  <a:srgbClr val="0D1B2A"/>
                </a:solidFill>
                <a:latin typeface="Calibri" pitchFamily="34" charset="0"/>
                <a:ea typeface="Calibri" pitchFamily="34" charset="-122"/>
                <a:cs typeface="Calibri" pitchFamily="34" charset="-120"/>
              </a:rPr>
              <a:t>"Financial Services" (18.7%) and "Debt Holding Tank" (18.1%) are the top performers, both well above the 15.6% target. "Debt General" (8.8%) is the worst, nearly 4pp below the overall average.</a:t>
            </a:r>
            <a:endParaRPr lang="en-US" sz="1200" dirty="0"/>
          </a:p>
          <a:p>
            <a:pPr marL="342900" indent="-342900">
              <a:spcAft>
                <a:spcPts val="400"/>
              </a:spcAft>
              <a:buSzPct val="100000"/>
              <a:buChar char="•"/>
            </a:pPr>
            <a:r>
              <a:rPr lang="en-US" sz="1200" dirty="0">
                <a:solidFill>
                  <a:srgbClr val="0D1B2A"/>
                </a:solidFill>
                <a:latin typeface="Calibri" pitchFamily="34" charset="0"/>
                <a:ea typeface="Calibri" pitchFamily="34" charset="-122"/>
                <a:cs typeface="Calibri" pitchFamily="34" charset="-120"/>
              </a:rPr>
              <a:t>"DebtReductionInc" (11.3%) accounts for the largest share of leads (n=1,468) but underperforms — its high volume makes it a meaningful drag on overall quality.</a:t>
            </a:r>
            <a:endParaRPr lang="en-US" sz="1200" dirty="0"/>
          </a:p>
        </p:txBody>
      </p:sp>
      <p:sp>
        <p:nvSpPr>
          <p:cNvPr id="15" name="Shape 12"/>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6" name="Text 10">
            <a:extLst>
              <a:ext uri="{FF2B5EF4-FFF2-40B4-BE49-F238E27FC236}">
                <a16:creationId xmlns:a16="http://schemas.microsoft.com/office/drawing/2014/main" id="{C996177B-39C6-8BBE-56D6-A5642C2DA4F7}"/>
              </a:ext>
            </a:extLst>
          </p:cNvPr>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12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10</a:t>
            </a:r>
            <a:endParaRPr lang="en-US" sz="800" dirty="0"/>
          </a:p>
        </p:txBody>
      </p:sp>
      <p:sp>
        <p:nvSpPr>
          <p:cNvPr id="5" name="Text 3"/>
          <p:cNvSpPr/>
          <p:nvPr/>
        </p:nvSpPr>
        <p:spPr>
          <a:xfrm>
            <a:off x="365760" y="73152"/>
            <a:ext cx="6126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Q3 — CPL Increase Opportunity</a:t>
            </a:r>
            <a:endParaRPr lang="en-US" sz="1300" dirty="0"/>
          </a:p>
        </p:txBody>
      </p:sp>
      <p:sp>
        <p:nvSpPr>
          <p:cNvPr id="6" name="Shape 4"/>
          <p:cNvSpPr/>
          <p:nvPr/>
        </p:nvSpPr>
        <p:spPr>
          <a:xfrm>
            <a:off x="274320" y="576072"/>
            <a:ext cx="1656678" cy="320040"/>
          </a:xfrm>
          <a:prstGeom prst="rect">
            <a:avLst/>
          </a:prstGeom>
          <a:solidFill>
            <a:srgbClr val="F4A261"/>
          </a:solidFill>
          <a:ln w="12700">
            <a:solidFill>
              <a:srgbClr val="F4A261"/>
            </a:solidFill>
            <a:prstDash val="solid"/>
          </a:ln>
        </p:spPr>
        <p:txBody>
          <a:bodyPr/>
          <a:lstStyle/>
          <a:p>
            <a:endParaRPr lang="en-US"/>
          </a:p>
        </p:txBody>
      </p:sp>
      <p:sp>
        <p:nvSpPr>
          <p:cNvPr id="7" name="Text 5"/>
          <p:cNvSpPr/>
          <p:nvPr/>
        </p:nvSpPr>
        <p:spPr>
          <a:xfrm>
            <a:off x="274320" y="576072"/>
            <a:ext cx="1656678" cy="320040"/>
          </a:xfrm>
          <a:prstGeom prst="rect">
            <a:avLst/>
          </a:prstGeom>
          <a:noFill/>
          <a:ln/>
        </p:spPr>
        <p:txBody>
          <a:bodyPr wrap="square" lIns="0" tIns="0" rIns="0" bIns="0" rtlCol="0" anchor="ctr"/>
          <a:lstStyle/>
          <a:p>
            <a:pPr marL="0" indent="0" algn="ctr">
              <a:buNone/>
            </a:pPr>
            <a:r>
              <a:rPr lang="en-US" sz="1200" b="1" dirty="0">
                <a:solidFill>
                  <a:srgbClr val="FFFFFF"/>
                </a:solidFill>
              </a:rPr>
              <a:t>STRATEGY</a:t>
            </a:r>
            <a:endParaRPr lang="en-US" sz="1200" dirty="0"/>
          </a:p>
        </p:txBody>
      </p:sp>
      <p:pic>
        <p:nvPicPr>
          <p:cNvPr id="8" name="Image 0" descr="preencoded.png"/>
          <p:cNvPicPr>
            <a:picLocks noChangeAspect="1"/>
          </p:cNvPicPr>
          <p:nvPr/>
        </p:nvPicPr>
        <p:blipFill>
          <a:blip r:embed="rId3"/>
          <a:stretch>
            <a:fillRect/>
          </a:stretch>
        </p:blipFill>
        <p:spPr>
          <a:xfrm>
            <a:off x="182880" y="3018842"/>
            <a:ext cx="6492240" cy="3749040"/>
          </a:xfrm>
          <a:prstGeom prst="rect">
            <a:avLst/>
          </a:prstGeom>
        </p:spPr>
      </p:pic>
      <p:sp>
        <p:nvSpPr>
          <p:cNvPr id="9" name="Shape 6"/>
          <p:cNvSpPr/>
          <p:nvPr/>
        </p:nvSpPr>
        <p:spPr>
          <a:xfrm>
            <a:off x="274320" y="6881521"/>
            <a:ext cx="6309360" cy="1920240"/>
          </a:xfrm>
          <a:prstGeom prst="rect">
            <a:avLst/>
          </a:prstGeom>
          <a:solidFill>
            <a:srgbClr val="F4F7F9"/>
          </a:solidFill>
          <a:ln w="6350">
            <a:solidFill>
              <a:srgbClr val="D0D8DF"/>
            </a:solidFill>
            <a:prstDash val="solid"/>
          </a:ln>
        </p:spPr>
        <p:txBody>
          <a:bodyPr/>
          <a:lstStyle/>
          <a:p>
            <a:endParaRPr lang="en-US"/>
          </a:p>
        </p:txBody>
      </p:sp>
      <p:sp>
        <p:nvSpPr>
          <p:cNvPr id="10" name="Shape 7"/>
          <p:cNvSpPr/>
          <p:nvPr/>
        </p:nvSpPr>
        <p:spPr>
          <a:xfrm>
            <a:off x="320040" y="6927241"/>
            <a:ext cx="54864" cy="1783080"/>
          </a:xfrm>
          <a:prstGeom prst="rect">
            <a:avLst/>
          </a:prstGeom>
          <a:solidFill>
            <a:srgbClr val="028090"/>
          </a:solidFill>
          <a:ln w="12700">
            <a:solidFill>
              <a:srgbClr val="028090"/>
            </a:solidFill>
            <a:prstDash val="solid"/>
          </a:ln>
        </p:spPr>
        <p:txBody>
          <a:bodyPr/>
          <a:lstStyle/>
          <a:p>
            <a:endParaRPr lang="en-US"/>
          </a:p>
        </p:txBody>
      </p:sp>
      <p:sp>
        <p:nvSpPr>
          <p:cNvPr id="11" name="Text 8"/>
          <p:cNvSpPr/>
          <p:nvPr/>
        </p:nvSpPr>
        <p:spPr>
          <a:xfrm>
            <a:off x="457200" y="6945529"/>
            <a:ext cx="2743200" cy="201168"/>
          </a:xfrm>
          <a:prstGeom prst="rect">
            <a:avLst/>
          </a:prstGeom>
          <a:noFill/>
          <a:ln/>
        </p:spPr>
        <p:txBody>
          <a:bodyPr wrap="square" lIns="0" tIns="0" rIns="0" bIns="0"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Route ① — Recommended</a:t>
            </a:r>
            <a:endParaRPr lang="en-US" sz="950" dirty="0"/>
          </a:p>
        </p:txBody>
      </p:sp>
      <p:sp>
        <p:nvSpPr>
          <p:cNvPr id="12" name="Text 9"/>
          <p:cNvSpPr/>
          <p:nvPr/>
        </p:nvSpPr>
        <p:spPr>
          <a:xfrm>
            <a:off x="457200" y="7164985"/>
            <a:ext cx="2834640" cy="1463040"/>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Exclude $7.5k-10k &amp; &gt;$100k debt</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 Search traffic only</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 Exclude Head3 widget</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 17.2% quality, n=1,145 leads retained</a:t>
            </a:r>
            <a:endParaRPr lang="en-US" sz="900" dirty="0"/>
          </a:p>
        </p:txBody>
      </p:sp>
      <p:sp>
        <p:nvSpPr>
          <p:cNvPr id="13" name="Shape 10"/>
          <p:cNvSpPr/>
          <p:nvPr/>
        </p:nvSpPr>
        <p:spPr>
          <a:xfrm>
            <a:off x="3520440" y="6927241"/>
            <a:ext cx="54864" cy="1783080"/>
          </a:xfrm>
          <a:prstGeom prst="rect">
            <a:avLst/>
          </a:prstGeom>
          <a:solidFill>
            <a:srgbClr val="F4A261"/>
          </a:solidFill>
          <a:ln w="12700">
            <a:solidFill>
              <a:srgbClr val="F4A261"/>
            </a:solidFill>
            <a:prstDash val="solid"/>
          </a:ln>
        </p:spPr>
        <p:txBody>
          <a:bodyPr/>
          <a:lstStyle/>
          <a:p>
            <a:endParaRPr lang="en-US"/>
          </a:p>
        </p:txBody>
      </p:sp>
      <p:sp>
        <p:nvSpPr>
          <p:cNvPr id="14" name="Text 11"/>
          <p:cNvSpPr/>
          <p:nvPr/>
        </p:nvSpPr>
        <p:spPr>
          <a:xfrm>
            <a:off x="3657600" y="6945529"/>
            <a:ext cx="2743200" cy="201168"/>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Route ② — Aggressive</a:t>
            </a:r>
            <a:endParaRPr lang="en-US" sz="950" dirty="0"/>
          </a:p>
        </p:txBody>
      </p:sp>
      <p:sp>
        <p:nvSpPr>
          <p:cNvPr id="15" name="Text 12"/>
          <p:cNvSpPr/>
          <p:nvPr/>
        </p:nvSpPr>
        <p:spPr>
          <a:xfrm>
            <a:off x="3657600" y="7164985"/>
            <a:ext cx="2834640" cy="1463040"/>
          </a:xfrm>
          <a:prstGeom prst="rect">
            <a:avLst/>
          </a:prstGeom>
          <a:noFill/>
          <a:ln/>
        </p:spPr>
        <p:txBody>
          <a:bodyPr wrap="square" lIns="0" tIns="0" rIns="0" bIns="0" rtlCol="0" anchor="ctr"/>
          <a:lstStyle/>
          <a:p>
            <a:pPr marL="0" indent="0">
              <a:buNone/>
            </a:pPr>
            <a:r>
              <a:rPr lang="en-US" sz="900" dirty="0">
                <a:solidFill>
                  <a:srgbClr val="0D1B2A"/>
                </a:solidFill>
                <a:latin typeface="Calibri" pitchFamily="34" charset="0"/>
                <a:ea typeface="Calibri" pitchFamily="34" charset="-122"/>
                <a:cs typeface="Calibri" pitchFamily="34" charset="-120"/>
              </a:rPr>
              <a:t>Phone Score = 5 + mid-range debt</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 18.9% quality, but only n=450 leads</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 Loses 85% of volume</a:t>
            </a:r>
            <a:endParaRPr lang="en-US" sz="900" dirty="0"/>
          </a:p>
          <a:p>
            <a:pPr marL="0" indent="0">
              <a:buNone/>
            </a:pPr>
            <a:r>
              <a:rPr lang="en-US" sz="900" dirty="0">
                <a:solidFill>
                  <a:srgbClr val="0D1B2A"/>
                </a:solidFill>
                <a:latin typeface="Calibri" pitchFamily="34" charset="0"/>
                <a:ea typeface="Calibri" pitchFamily="34" charset="-122"/>
                <a:cs typeface="Calibri" pitchFamily="34" charset="-120"/>
              </a:rPr>
              <a:t>→ Not viable until PhoneScore coverage improves</a:t>
            </a:r>
            <a:endParaRPr lang="en-US" sz="900" dirty="0"/>
          </a:p>
        </p:txBody>
      </p:sp>
      <p:sp>
        <p:nvSpPr>
          <p:cNvPr id="16" name="Shape 13"/>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7" name="Text 14"/>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13</a:t>
            </a:r>
            <a:endParaRPr lang="en-US" sz="800" dirty="0"/>
          </a:p>
        </p:txBody>
      </p:sp>
      <p:sp>
        <p:nvSpPr>
          <p:cNvPr id="20" name="TextBox 19">
            <a:extLst>
              <a:ext uri="{FF2B5EF4-FFF2-40B4-BE49-F238E27FC236}">
                <a16:creationId xmlns:a16="http://schemas.microsoft.com/office/drawing/2014/main" id="{5511E8E0-A162-6BCA-D958-0AFCC2050529}"/>
              </a:ext>
            </a:extLst>
          </p:cNvPr>
          <p:cNvSpPr txBox="1"/>
          <p:nvPr/>
        </p:nvSpPr>
        <p:spPr>
          <a:xfrm>
            <a:off x="209774" y="905256"/>
            <a:ext cx="6309360" cy="2123658"/>
          </a:xfrm>
          <a:prstGeom prst="rect">
            <a:avLst/>
          </a:prstGeom>
          <a:noFill/>
        </p:spPr>
        <p:txBody>
          <a:bodyPr wrap="square" rtlCol="0">
            <a:spAutoFit/>
          </a:bodyPr>
          <a:lstStyle/>
          <a:p>
            <a:r>
              <a:rPr lang="en-US" sz="1200" dirty="0"/>
              <a:t>The Q2 findings identified three statistically significant variables: debt level (p&lt;0.001), traffic type (p=0.0004), and </a:t>
            </a:r>
            <a:r>
              <a:rPr lang="en-US" sz="1200" dirty="0" err="1"/>
              <a:t>PhoneScore</a:t>
            </a:r>
            <a:r>
              <a:rPr lang="en-US" sz="1200" dirty="0"/>
              <a:t> (p=0.0007). Rather than applying all three filters at once, which would stack volume losses multiplicatively, we structured the analysis as two sequential routes, each adding one filter at a time so the quality and volume impact of each step is transparent. </a:t>
            </a:r>
          </a:p>
          <a:p>
            <a:endParaRPr lang="en-US" sz="1200" dirty="0"/>
          </a:p>
          <a:p>
            <a:r>
              <a:rPr lang="en-US" sz="1200" dirty="0"/>
              <a:t>Route ① builds from the broadest, most coverage-friendly filters first (exclude extreme debt → Search only → exclude Head3), reaching the 15.6% target at step two while retaining 1,186 leads.</a:t>
            </a:r>
          </a:p>
          <a:p>
            <a:endParaRPr lang="en-US" sz="1200" dirty="0"/>
          </a:p>
          <a:p>
            <a:r>
              <a:rPr lang="en-US" sz="1200" dirty="0"/>
              <a:t>Route ② starts from </a:t>
            </a:r>
            <a:r>
              <a:rPr lang="en-US" sz="1200" dirty="0" err="1"/>
              <a:t>PhoneScore</a:t>
            </a:r>
            <a:r>
              <a:rPr lang="en-US" sz="1200" dirty="0"/>
              <a:t> = 5, which by itself already meets the target but immediately discards 54% of leads where the score is missing, making it a fundamentally different risk profile from Route ①, not just a more aggressive version of the same approach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19D27-7528-5A1C-2A9F-61221C831EB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9235AB7-7A8A-4B23-7F03-5481F08487E3}"/>
              </a:ext>
            </a:extLst>
          </p:cNvPr>
          <p:cNvSpPr/>
          <p:nvPr/>
        </p:nvSpPr>
        <p:spPr>
          <a:xfrm>
            <a:off x="0" y="0"/>
            <a:ext cx="6858000" cy="502920"/>
          </a:xfrm>
          <a:prstGeom prst="rect">
            <a:avLst/>
          </a:prstGeom>
          <a:solidFill>
            <a:srgbClr val="0A2540"/>
          </a:solidFill>
          <a:ln w="12700">
            <a:solidFill>
              <a:srgbClr val="0A2540"/>
            </a:solidFill>
            <a:prstDash val="solid"/>
          </a:ln>
        </p:spPr>
        <p:txBody>
          <a:bodyPr/>
          <a:lstStyle/>
          <a:p>
            <a:endParaRPr lang="en-US"/>
          </a:p>
        </p:txBody>
      </p:sp>
      <p:sp>
        <p:nvSpPr>
          <p:cNvPr id="3" name="Shape 1">
            <a:extLst>
              <a:ext uri="{FF2B5EF4-FFF2-40B4-BE49-F238E27FC236}">
                <a16:creationId xmlns:a16="http://schemas.microsoft.com/office/drawing/2014/main" id="{DBD97FBB-003D-8D07-DDDE-4D0FFB876226}"/>
              </a:ext>
            </a:extLst>
          </p:cNvPr>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a:extLst>
              <a:ext uri="{FF2B5EF4-FFF2-40B4-BE49-F238E27FC236}">
                <a16:creationId xmlns:a16="http://schemas.microsoft.com/office/drawing/2014/main" id="{C3E4165B-CE34-6855-605F-5330E7DE7EE8}"/>
              </a:ext>
            </a:extLst>
          </p:cNvPr>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10</a:t>
            </a:r>
            <a:endParaRPr lang="en-US" sz="800" dirty="0"/>
          </a:p>
        </p:txBody>
      </p:sp>
      <p:sp>
        <p:nvSpPr>
          <p:cNvPr id="5" name="Text 3">
            <a:extLst>
              <a:ext uri="{FF2B5EF4-FFF2-40B4-BE49-F238E27FC236}">
                <a16:creationId xmlns:a16="http://schemas.microsoft.com/office/drawing/2014/main" id="{F632E52A-7040-3D0B-2325-BC8D97A99751}"/>
              </a:ext>
            </a:extLst>
          </p:cNvPr>
          <p:cNvSpPr/>
          <p:nvPr/>
        </p:nvSpPr>
        <p:spPr>
          <a:xfrm>
            <a:off x="365760" y="73152"/>
            <a:ext cx="61264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Future Work</a:t>
            </a:r>
            <a:endParaRPr lang="en-US" sz="1300" dirty="0"/>
          </a:p>
        </p:txBody>
      </p:sp>
      <p:sp>
        <p:nvSpPr>
          <p:cNvPr id="7" name="Text 5">
            <a:extLst>
              <a:ext uri="{FF2B5EF4-FFF2-40B4-BE49-F238E27FC236}">
                <a16:creationId xmlns:a16="http://schemas.microsoft.com/office/drawing/2014/main" id="{9015997A-FEC0-E626-B6DE-CD58D8F863B3}"/>
              </a:ext>
            </a:extLst>
          </p:cNvPr>
          <p:cNvSpPr/>
          <p:nvPr/>
        </p:nvSpPr>
        <p:spPr>
          <a:xfrm>
            <a:off x="274320" y="576072"/>
            <a:ext cx="1656678" cy="320040"/>
          </a:xfrm>
          <a:prstGeom prst="rect">
            <a:avLst/>
          </a:prstGeom>
          <a:noFill/>
          <a:ln/>
        </p:spPr>
        <p:txBody>
          <a:bodyPr wrap="square" lIns="0" tIns="0" rIns="0" bIns="0" rtlCol="0" anchor="ctr"/>
          <a:lstStyle/>
          <a:p>
            <a:pPr marL="0" indent="0" algn="ctr">
              <a:buNone/>
            </a:pPr>
            <a:r>
              <a:rPr lang="en-US" sz="1200" b="1" dirty="0">
                <a:solidFill>
                  <a:srgbClr val="FFFFFF"/>
                </a:solidFill>
              </a:rPr>
              <a:t>STRATEGY</a:t>
            </a:r>
            <a:endParaRPr lang="en-US" sz="1200" dirty="0"/>
          </a:p>
        </p:txBody>
      </p:sp>
      <p:sp>
        <p:nvSpPr>
          <p:cNvPr id="16" name="Shape 13">
            <a:extLst>
              <a:ext uri="{FF2B5EF4-FFF2-40B4-BE49-F238E27FC236}">
                <a16:creationId xmlns:a16="http://schemas.microsoft.com/office/drawing/2014/main" id="{E117ECD9-6004-9392-E78B-EFD124FFB5B7}"/>
              </a:ext>
            </a:extLst>
          </p:cNvPr>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17" name="Text 14">
            <a:extLst>
              <a:ext uri="{FF2B5EF4-FFF2-40B4-BE49-F238E27FC236}">
                <a16:creationId xmlns:a16="http://schemas.microsoft.com/office/drawing/2014/main" id="{4E965A06-0394-1B61-ED22-75332ABB7B59}"/>
              </a:ext>
            </a:extLst>
          </p:cNvPr>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14</a:t>
            </a:r>
            <a:endParaRPr lang="en-US" sz="800" dirty="0"/>
          </a:p>
        </p:txBody>
      </p:sp>
      <p:sp>
        <p:nvSpPr>
          <p:cNvPr id="20" name="TextBox 19">
            <a:extLst>
              <a:ext uri="{FF2B5EF4-FFF2-40B4-BE49-F238E27FC236}">
                <a16:creationId xmlns:a16="http://schemas.microsoft.com/office/drawing/2014/main" id="{18DAA0A3-2CEE-A713-E69E-D8CAA40C597C}"/>
              </a:ext>
            </a:extLst>
          </p:cNvPr>
          <p:cNvSpPr txBox="1"/>
          <p:nvPr/>
        </p:nvSpPr>
        <p:spPr>
          <a:xfrm>
            <a:off x="209774" y="905256"/>
            <a:ext cx="6309360" cy="4339650"/>
          </a:xfrm>
          <a:prstGeom prst="rect">
            <a:avLst/>
          </a:prstGeom>
          <a:noFill/>
        </p:spPr>
        <p:txBody>
          <a:bodyPr wrap="square" rtlCol="0">
            <a:spAutoFit/>
          </a:bodyPr>
          <a:lstStyle/>
          <a:p>
            <a:r>
              <a:rPr lang="en-US" sz="1200" b="1" dirty="0"/>
              <a:t>Expand </a:t>
            </a:r>
            <a:r>
              <a:rPr lang="en-US" sz="1200" b="1" dirty="0" err="1"/>
              <a:t>PhoneScore</a:t>
            </a:r>
            <a:r>
              <a:rPr lang="en-US" sz="1200" b="1" dirty="0"/>
              <a:t> / </a:t>
            </a:r>
            <a:r>
              <a:rPr lang="en-US" sz="1200" b="1" dirty="0" err="1"/>
              <a:t>AddressScore</a:t>
            </a:r>
            <a:r>
              <a:rPr lang="en-US" sz="1200" b="1" dirty="0"/>
              <a:t> coverage</a:t>
            </a:r>
            <a:br>
              <a:rPr lang="en-US" sz="1200" dirty="0"/>
            </a:br>
            <a:r>
              <a:rPr lang="en-US" sz="1200" dirty="0"/>
              <a:t>Verification signals currently cover only part of the dataset (</a:t>
            </a:r>
            <a:r>
              <a:rPr lang="en-US" sz="1200" dirty="0" err="1"/>
              <a:t>PhoneScore</a:t>
            </a:r>
            <a:r>
              <a:rPr lang="en-US" sz="1200" dirty="0"/>
              <a:t> ~46%, </a:t>
            </a:r>
            <a:r>
              <a:rPr lang="en-US" sz="1200" dirty="0" err="1"/>
              <a:t>AddressScore</a:t>
            </a:r>
            <a:r>
              <a:rPr lang="en-US" sz="1200" dirty="0"/>
              <a:t> ~39%). As coverage improves over time, </a:t>
            </a:r>
            <a:r>
              <a:rPr lang="en-US" sz="1200" dirty="0" err="1"/>
              <a:t>PhoneScore</a:t>
            </a:r>
            <a:r>
              <a:rPr lang="en-US" sz="1200" dirty="0"/>
              <a:t>, particularly Score 5, can be used as a scalable quality filter rather than an aggressive or niche segmentation strategy.</a:t>
            </a:r>
          </a:p>
          <a:p>
            <a:endParaRPr lang="en-US" sz="1200" dirty="0"/>
          </a:p>
          <a:p>
            <a:r>
              <a:rPr lang="en-US" sz="1200" b="1" dirty="0"/>
              <a:t>Keyword-level NLP analysis of search intent</a:t>
            </a:r>
            <a:br>
              <a:rPr lang="en-US" sz="1200" dirty="0"/>
            </a:br>
            <a:r>
              <a:rPr lang="en-US" sz="1200" dirty="0"/>
              <a:t>Columns containing the referring keyword string and search queries provide an opportunity to analyze user intent. Applying NLP techniques (e.g., keyword clustering or embedding-based similarity) could reveal related high-intent terms and expand the set of queries that trigger high-quality ads.</a:t>
            </a:r>
          </a:p>
          <a:p>
            <a:br>
              <a:rPr lang="en-US" sz="1200" dirty="0"/>
            </a:br>
            <a:endParaRPr lang="en-US" sz="1200" dirty="0"/>
          </a:p>
          <a:p>
            <a:r>
              <a:rPr lang="en-US" sz="1200" b="1" dirty="0"/>
              <a:t>Multivariate modeling of lead quality</a:t>
            </a:r>
            <a:br>
              <a:rPr lang="en-US" sz="1200" dirty="0"/>
            </a:br>
            <a:r>
              <a:rPr lang="en-US" sz="1200" dirty="0"/>
              <a:t>Current analysis evaluates drivers individually or at most consider two at a time. Future work could build a multivariate model (e.g., logistic regression or gradient boosting) to estimate the marginal impact of each variable while controlling for others, allowing more precise optimization of lead acquisition.</a:t>
            </a:r>
          </a:p>
          <a:p>
            <a:br>
              <a:rPr lang="en-US" sz="1200" dirty="0"/>
            </a:br>
            <a:endParaRPr lang="en-US" sz="1200" dirty="0"/>
          </a:p>
          <a:p>
            <a:r>
              <a:rPr lang="en-US" sz="1200" b="1" dirty="0"/>
              <a:t>Cost-efficiency optimization</a:t>
            </a:r>
            <a:br>
              <a:rPr lang="en-US" sz="1200" dirty="0"/>
            </a:br>
            <a:r>
              <a:rPr lang="en-US" sz="1200" dirty="0"/>
              <a:t>The current strategy optimizes for quality rate. A next step would be to optimize for expected profit by combining quality probability, CPL, and conversion value, identifying segments that maximize expected ROI rather than quality alone.</a:t>
            </a:r>
          </a:p>
        </p:txBody>
      </p:sp>
    </p:spTree>
    <p:extLst>
      <p:ext uri="{BB962C8B-B14F-4D97-AF65-F5344CB8AC3E}">
        <p14:creationId xmlns:p14="http://schemas.microsoft.com/office/powerpoint/2010/main" val="2471584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0" y="0"/>
            <a:ext cx="6858000" cy="73152"/>
          </a:xfrm>
          <a:prstGeom prst="rect">
            <a:avLst/>
          </a:prstGeom>
          <a:solidFill>
            <a:srgbClr val="028090"/>
          </a:solidFill>
          <a:ln w="12700">
            <a:solidFill>
              <a:srgbClr val="028090"/>
            </a:solidFill>
            <a:prstDash val="solid"/>
          </a:ln>
        </p:spPr>
        <p:txBody>
          <a:bodyPr/>
          <a:lstStyle/>
          <a:p>
            <a:endParaRPr lang="en-US"/>
          </a:p>
        </p:txBody>
      </p:sp>
      <p:sp>
        <p:nvSpPr>
          <p:cNvPr id="3" name="Shape 1"/>
          <p:cNvSpPr/>
          <p:nvPr/>
        </p:nvSpPr>
        <p:spPr>
          <a:xfrm>
            <a:off x="0" y="8915400"/>
            <a:ext cx="6858000" cy="228600"/>
          </a:xfrm>
          <a:prstGeom prst="rect">
            <a:avLst/>
          </a:prstGeom>
          <a:solidFill>
            <a:srgbClr val="028090"/>
          </a:solidFill>
          <a:ln w="12700">
            <a:solidFill>
              <a:srgbClr val="028090"/>
            </a:solidFill>
            <a:prstDash val="solid"/>
          </a:ln>
        </p:spPr>
        <p:txBody>
          <a:bodyPr/>
          <a:lstStyle/>
          <a:p>
            <a:endParaRPr lang="en-US"/>
          </a:p>
        </p:txBody>
      </p:sp>
      <p:sp>
        <p:nvSpPr>
          <p:cNvPr id="4" name="Text 2"/>
          <p:cNvSpPr/>
          <p:nvPr/>
        </p:nvSpPr>
        <p:spPr>
          <a:xfrm>
            <a:off x="365760" y="274320"/>
            <a:ext cx="612648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Conclusions</a:t>
            </a:r>
            <a:endParaRPr lang="en-US" sz="1800" dirty="0"/>
          </a:p>
        </p:txBody>
      </p:sp>
      <p:sp>
        <p:nvSpPr>
          <p:cNvPr id="5" name="Shape 3"/>
          <p:cNvSpPr/>
          <p:nvPr/>
        </p:nvSpPr>
        <p:spPr>
          <a:xfrm>
            <a:off x="365760" y="777240"/>
            <a:ext cx="6126480" cy="0"/>
          </a:xfrm>
          <a:prstGeom prst="line">
            <a:avLst/>
          </a:prstGeom>
          <a:noFill/>
          <a:ln w="12700">
            <a:solidFill>
              <a:srgbClr val="028090"/>
            </a:solidFill>
            <a:prstDash val="solid"/>
          </a:ln>
        </p:spPr>
        <p:txBody>
          <a:bodyPr/>
          <a:lstStyle/>
          <a:p>
            <a:endParaRPr lang="en-US"/>
          </a:p>
        </p:txBody>
      </p:sp>
      <p:sp>
        <p:nvSpPr>
          <p:cNvPr id="6" name="Shape 4"/>
          <p:cNvSpPr/>
          <p:nvPr/>
        </p:nvSpPr>
        <p:spPr>
          <a:xfrm>
            <a:off x="320040" y="896112"/>
            <a:ext cx="6217920" cy="1389888"/>
          </a:xfrm>
          <a:prstGeom prst="rect">
            <a:avLst/>
          </a:prstGeom>
          <a:solidFill>
            <a:srgbClr val="0D2035"/>
          </a:solidFill>
          <a:ln/>
          <a:effectLst>
            <a:outerShdw blurRad="50800" dist="25400" dir="8100000" algn="bl" rotWithShape="0">
              <a:srgbClr val="000000">
                <a:alpha val="20000"/>
              </a:srgbClr>
            </a:outerShdw>
          </a:effectLst>
        </p:spPr>
        <p:txBody>
          <a:bodyPr/>
          <a:lstStyle/>
          <a:p>
            <a:endParaRPr lang="en-US"/>
          </a:p>
        </p:txBody>
      </p:sp>
      <p:sp>
        <p:nvSpPr>
          <p:cNvPr id="7" name="Shape 5"/>
          <p:cNvSpPr/>
          <p:nvPr/>
        </p:nvSpPr>
        <p:spPr>
          <a:xfrm>
            <a:off x="320040" y="896112"/>
            <a:ext cx="54864" cy="1389888"/>
          </a:xfrm>
          <a:prstGeom prst="rect">
            <a:avLst/>
          </a:prstGeom>
          <a:solidFill>
            <a:srgbClr val="028090"/>
          </a:solidFill>
          <a:ln w="12700">
            <a:solidFill>
              <a:srgbClr val="028090"/>
            </a:solidFill>
            <a:prstDash val="solid"/>
          </a:ln>
        </p:spPr>
        <p:txBody>
          <a:bodyPr/>
          <a:lstStyle/>
          <a:p>
            <a:endParaRPr lang="en-US"/>
          </a:p>
        </p:txBody>
      </p:sp>
      <p:sp>
        <p:nvSpPr>
          <p:cNvPr id="8" name="Text 6"/>
          <p:cNvSpPr/>
          <p:nvPr/>
        </p:nvSpPr>
        <p:spPr>
          <a:xfrm>
            <a:off x="438912" y="969264"/>
            <a:ext cx="1005840" cy="182880"/>
          </a:xfrm>
          <a:prstGeom prst="rect">
            <a:avLst/>
          </a:prstGeom>
          <a:noFill/>
          <a:ln/>
        </p:spPr>
        <p:txBody>
          <a:bodyPr wrap="square" lIns="0" tIns="0" rIns="0" bIns="0" rtlCol="0" anchor="ctr"/>
          <a:lstStyle/>
          <a:p>
            <a:pPr marL="0" indent="0">
              <a:buNone/>
            </a:pPr>
            <a:r>
              <a:rPr lang="en-US" sz="700" b="1" kern="0" spc="150" dirty="0">
                <a:solidFill>
                  <a:srgbClr val="028090"/>
                </a:solidFill>
                <a:latin typeface="Calibri" pitchFamily="34" charset="0"/>
                <a:ea typeface="Calibri" pitchFamily="34" charset="-122"/>
                <a:cs typeface="Calibri" pitchFamily="34" charset="-120"/>
              </a:rPr>
              <a:t>IMPLEMENT</a:t>
            </a:r>
            <a:endParaRPr lang="en-US" sz="700" dirty="0"/>
          </a:p>
        </p:txBody>
      </p:sp>
      <p:sp>
        <p:nvSpPr>
          <p:cNvPr id="9" name="Text 7"/>
          <p:cNvSpPr/>
          <p:nvPr/>
        </p:nvSpPr>
        <p:spPr>
          <a:xfrm>
            <a:off x="438912" y="1152144"/>
            <a:ext cx="5852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Exclude low-quality debt segments</a:t>
            </a:r>
            <a:endParaRPr lang="en-US" sz="1100" dirty="0"/>
          </a:p>
        </p:txBody>
      </p:sp>
      <p:sp>
        <p:nvSpPr>
          <p:cNvPr id="10" name="Text 8"/>
          <p:cNvSpPr/>
          <p:nvPr/>
        </p:nvSpPr>
        <p:spPr>
          <a:xfrm>
            <a:off x="438912" y="1417320"/>
            <a:ext cx="5852160" cy="777240"/>
          </a:xfrm>
          <a:prstGeom prst="rect">
            <a:avLst/>
          </a:prstGeom>
          <a:noFill/>
          <a:ln/>
        </p:spPr>
        <p:txBody>
          <a:bodyPr wrap="square" lIns="0" tIns="0" rIns="0" bIns="0" rtlCol="0" anchor="ctr"/>
          <a:lstStyle/>
          <a:p>
            <a:pPr marL="0" indent="0">
              <a:buNone/>
            </a:pPr>
            <a:r>
              <a:rPr lang="en-US" sz="1200" dirty="0">
                <a:solidFill>
                  <a:srgbClr val="A8C8D0"/>
                </a:solidFill>
                <a:latin typeface="Calibri" pitchFamily="34" charset="0"/>
                <a:ea typeface="Calibri" pitchFamily="34" charset="-122"/>
                <a:cs typeface="Calibri" pitchFamily="34" charset="-120"/>
              </a:rPr>
              <a:t>Remove $7.5k–$10k and &gt;$100k leads. Statistically validated (chi²=44.82, p&lt;0.0001). Low volume loss (633 leads).</a:t>
            </a:r>
            <a:endParaRPr lang="en-US" sz="1200" dirty="0"/>
          </a:p>
        </p:txBody>
      </p:sp>
      <p:sp>
        <p:nvSpPr>
          <p:cNvPr id="11" name="Shape 9"/>
          <p:cNvSpPr/>
          <p:nvPr/>
        </p:nvSpPr>
        <p:spPr>
          <a:xfrm>
            <a:off x="320040" y="2404872"/>
            <a:ext cx="6217920" cy="1389888"/>
          </a:xfrm>
          <a:prstGeom prst="rect">
            <a:avLst/>
          </a:prstGeom>
          <a:solidFill>
            <a:srgbClr val="0D2035"/>
          </a:solidFill>
          <a:ln/>
          <a:effectLst>
            <a:outerShdw blurRad="50800" dist="25400" dir="8100000" algn="bl" rotWithShape="0">
              <a:srgbClr val="000000">
                <a:alpha val="20000"/>
              </a:srgbClr>
            </a:outerShdw>
          </a:effectLst>
        </p:spPr>
        <p:txBody>
          <a:bodyPr/>
          <a:lstStyle/>
          <a:p>
            <a:endParaRPr lang="en-US"/>
          </a:p>
        </p:txBody>
      </p:sp>
      <p:sp>
        <p:nvSpPr>
          <p:cNvPr id="12" name="Shape 10"/>
          <p:cNvSpPr/>
          <p:nvPr/>
        </p:nvSpPr>
        <p:spPr>
          <a:xfrm>
            <a:off x="320040" y="2404872"/>
            <a:ext cx="54864" cy="1389888"/>
          </a:xfrm>
          <a:prstGeom prst="rect">
            <a:avLst/>
          </a:prstGeom>
          <a:solidFill>
            <a:srgbClr val="028090"/>
          </a:solidFill>
          <a:ln w="12700">
            <a:solidFill>
              <a:srgbClr val="028090"/>
            </a:solidFill>
            <a:prstDash val="solid"/>
          </a:ln>
        </p:spPr>
        <p:txBody>
          <a:bodyPr/>
          <a:lstStyle/>
          <a:p>
            <a:endParaRPr lang="en-US"/>
          </a:p>
        </p:txBody>
      </p:sp>
      <p:sp>
        <p:nvSpPr>
          <p:cNvPr id="13" name="Text 11"/>
          <p:cNvSpPr/>
          <p:nvPr/>
        </p:nvSpPr>
        <p:spPr>
          <a:xfrm>
            <a:off x="438912" y="2478024"/>
            <a:ext cx="1005840" cy="182880"/>
          </a:xfrm>
          <a:prstGeom prst="rect">
            <a:avLst/>
          </a:prstGeom>
          <a:noFill/>
          <a:ln/>
        </p:spPr>
        <p:txBody>
          <a:bodyPr wrap="square" lIns="0" tIns="0" rIns="0" bIns="0" rtlCol="0" anchor="ctr"/>
          <a:lstStyle/>
          <a:p>
            <a:pPr marL="0" indent="0">
              <a:buNone/>
            </a:pPr>
            <a:r>
              <a:rPr lang="en-US" sz="700" b="1" kern="0" spc="150" dirty="0">
                <a:solidFill>
                  <a:srgbClr val="028090"/>
                </a:solidFill>
                <a:latin typeface="Calibri" pitchFamily="34" charset="0"/>
                <a:ea typeface="Calibri" pitchFamily="34" charset="-122"/>
                <a:cs typeface="Calibri" pitchFamily="34" charset="-120"/>
              </a:rPr>
              <a:t>IMPLEMENT</a:t>
            </a:r>
            <a:endParaRPr lang="en-US" sz="700" dirty="0"/>
          </a:p>
        </p:txBody>
      </p:sp>
      <p:sp>
        <p:nvSpPr>
          <p:cNvPr id="14" name="Text 12"/>
          <p:cNvSpPr/>
          <p:nvPr/>
        </p:nvSpPr>
        <p:spPr>
          <a:xfrm>
            <a:off x="438912" y="2660904"/>
            <a:ext cx="5852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Prioritise Search traffic over Content</a:t>
            </a:r>
            <a:endParaRPr lang="en-US" sz="1100" dirty="0"/>
          </a:p>
        </p:txBody>
      </p:sp>
      <p:sp>
        <p:nvSpPr>
          <p:cNvPr id="15" name="Text 13"/>
          <p:cNvSpPr/>
          <p:nvPr/>
        </p:nvSpPr>
        <p:spPr>
          <a:xfrm>
            <a:off x="438912" y="2926080"/>
            <a:ext cx="5852160" cy="777240"/>
          </a:xfrm>
          <a:prstGeom prst="rect">
            <a:avLst/>
          </a:prstGeom>
          <a:noFill/>
          <a:ln/>
        </p:spPr>
        <p:txBody>
          <a:bodyPr wrap="square" lIns="0" tIns="0" rIns="0" bIns="0" rtlCol="0" anchor="ctr"/>
          <a:lstStyle/>
          <a:p>
            <a:pPr marL="0" indent="0">
              <a:buNone/>
            </a:pPr>
            <a:r>
              <a:rPr lang="en-US" sz="1200" dirty="0">
                <a:solidFill>
                  <a:srgbClr val="A8C8D0"/>
                </a:solidFill>
                <a:latin typeface="Calibri" pitchFamily="34" charset="0"/>
                <a:ea typeface="Calibri" pitchFamily="34" charset="-122"/>
                <a:cs typeface="Calibri" pitchFamily="34" charset="-120"/>
              </a:rPr>
              <a:t>Search delivers 15.3% vs Content's 9.7% (p=0.0004). Reduce or stop buying AdSense/content-network leads.</a:t>
            </a:r>
            <a:endParaRPr lang="en-US" sz="1200" dirty="0"/>
          </a:p>
        </p:txBody>
      </p:sp>
      <p:sp>
        <p:nvSpPr>
          <p:cNvPr id="16" name="Shape 14"/>
          <p:cNvSpPr/>
          <p:nvPr/>
        </p:nvSpPr>
        <p:spPr>
          <a:xfrm>
            <a:off x="320040" y="3913632"/>
            <a:ext cx="6217920" cy="1389888"/>
          </a:xfrm>
          <a:prstGeom prst="rect">
            <a:avLst/>
          </a:prstGeom>
          <a:solidFill>
            <a:srgbClr val="0D2035"/>
          </a:solidFill>
          <a:ln/>
          <a:effectLst>
            <a:outerShdw blurRad="50800" dist="25400" dir="8100000" algn="bl" rotWithShape="0">
              <a:srgbClr val="000000">
                <a:alpha val="20000"/>
              </a:srgbClr>
            </a:outerShdw>
          </a:effectLst>
        </p:spPr>
        <p:txBody>
          <a:bodyPr/>
          <a:lstStyle/>
          <a:p>
            <a:endParaRPr lang="en-US"/>
          </a:p>
        </p:txBody>
      </p:sp>
      <p:sp>
        <p:nvSpPr>
          <p:cNvPr id="17" name="Shape 15"/>
          <p:cNvSpPr/>
          <p:nvPr/>
        </p:nvSpPr>
        <p:spPr>
          <a:xfrm>
            <a:off x="320040" y="3913632"/>
            <a:ext cx="54864" cy="1389888"/>
          </a:xfrm>
          <a:prstGeom prst="rect">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438912" y="3986784"/>
            <a:ext cx="1005840" cy="182880"/>
          </a:xfrm>
          <a:prstGeom prst="rect">
            <a:avLst/>
          </a:prstGeom>
          <a:noFill/>
          <a:ln/>
        </p:spPr>
        <p:txBody>
          <a:bodyPr wrap="square" lIns="0" tIns="0" rIns="0" bIns="0" rtlCol="0" anchor="ctr"/>
          <a:lstStyle/>
          <a:p>
            <a:pPr marL="0" indent="0">
              <a:buNone/>
            </a:pPr>
            <a:r>
              <a:rPr lang="en-US" sz="700" b="1" kern="0" spc="150" dirty="0">
                <a:solidFill>
                  <a:srgbClr val="028090"/>
                </a:solidFill>
                <a:latin typeface="Calibri" pitchFamily="34" charset="0"/>
                <a:ea typeface="Calibri" pitchFamily="34" charset="-122"/>
                <a:cs typeface="Calibri" pitchFamily="34" charset="-120"/>
              </a:rPr>
              <a:t>IMPLEMENT</a:t>
            </a:r>
            <a:endParaRPr lang="en-US" sz="700" dirty="0"/>
          </a:p>
        </p:txBody>
      </p:sp>
      <p:sp>
        <p:nvSpPr>
          <p:cNvPr id="19" name="Text 17"/>
          <p:cNvSpPr/>
          <p:nvPr/>
        </p:nvSpPr>
        <p:spPr>
          <a:xfrm>
            <a:off x="438912" y="4169664"/>
            <a:ext cx="5852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Exclude Head3 widget</a:t>
            </a:r>
            <a:endParaRPr lang="en-US" sz="1100" dirty="0"/>
          </a:p>
        </p:txBody>
      </p:sp>
      <p:sp>
        <p:nvSpPr>
          <p:cNvPr id="20" name="Text 18"/>
          <p:cNvSpPr/>
          <p:nvPr/>
        </p:nvSpPr>
        <p:spPr>
          <a:xfrm>
            <a:off x="438912" y="4434840"/>
            <a:ext cx="5852160" cy="777240"/>
          </a:xfrm>
          <a:prstGeom prst="rect">
            <a:avLst/>
          </a:prstGeom>
          <a:noFill/>
          <a:ln/>
        </p:spPr>
        <p:txBody>
          <a:bodyPr wrap="square" lIns="0" tIns="0" rIns="0" bIns="0" rtlCol="0" anchor="ctr"/>
          <a:lstStyle/>
          <a:p>
            <a:pPr marL="0" indent="0">
              <a:buNone/>
            </a:pPr>
            <a:r>
              <a:rPr lang="en-US" sz="1200" dirty="0">
                <a:solidFill>
                  <a:srgbClr val="A8C8D0"/>
                </a:solidFill>
                <a:latin typeface="Calibri" pitchFamily="34" charset="0"/>
                <a:ea typeface="Calibri" pitchFamily="34" charset="-122"/>
                <a:cs typeface="Calibri" pitchFamily="34" charset="-120"/>
              </a:rPr>
              <a:t>Head3 (6.7%) is 6 pp below average. Removing it adds marginal quality lift with minimal volume impact (n=75).</a:t>
            </a:r>
            <a:endParaRPr lang="en-US" sz="1200" dirty="0"/>
          </a:p>
        </p:txBody>
      </p:sp>
      <p:sp>
        <p:nvSpPr>
          <p:cNvPr id="21" name="Shape 19"/>
          <p:cNvSpPr/>
          <p:nvPr/>
        </p:nvSpPr>
        <p:spPr>
          <a:xfrm>
            <a:off x="320040" y="5422392"/>
            <a:ext cx="6217920" cy="1389888"/>
          </a:xfrm>
          <a:prstGeom prst="rect">
            <a:avLst/>
          </a:prstGeom>
          <a:solidFill>
            <a:srgbClr val="0D2035"/>
          </a:solidFill>
          <a:ln/>
          <a:effectLst>
            <a:outerShdw blurRad="50800" dist="25400" dir="8100000" algn="bl" rotWithShape="0">
              <a:srgbClr val="000000">
                <a:alpha val="20000"/>
              </a:srgbClr>
            </a:outerShdw>
          </a:effectLst>
        </p:spPr>
        <p:txBody>
          <a:bodyPr/>
          <a:lstStyle/>
          <a:p>
            <a:endParaRPr lang="en-US"/>
          </a:p>
        </p:txBody>
      </p:sp>
      <p:sp>
        <p:nvSpPr>
          <p:cNvPr id="22" name="Shape 20"/>
          <p:cNvSpPr/>
          <p:nvPr/>
        </p:nvSpPr>
        <p:spPr>
          <a:xfrm>
            <a:off x="320040" y="5422392"/>
            <a:ext cx="54864" cy="1389888"/>
          </a:xfrm>
          <a:prstGeom prst="rect">
            <a:avLst/>
          </a:prstGeom>
          <a:solidFill>
            <a:srgbClr val="F4A261"/>
          </a:solidFill>
          <a:ln w="12700">
            <a:solidFill>
              <a:srgbClr val="F4A261"/>
            </a:solidFill>
            <a:prstDash val="solid"/>
          </a:ln>
        </p:spPr>
        <p:txBody>
          <a:bodyPr/>
          <a:lstStyle/>
          <a:p>
            <a:endParaRPr lang="en-US"/>
          </a:p>
        </p:txBody>
      </p:sp>
      <p:sp>
        <p:nvSpPr>
          <p:cNvPr id="23" name="Text 21"/>
          <p:cNvSpPr/>
          <p:nvPr/>
        </p:nvSpPr>
        <p:spPr>
          <a:xfrm>
            <a:off x="438912" y="5495544"/>
            <a:ext cx="1005840" cy="182880"/>
          </a:xfrm>
          <a:prstGeom prst="rect">
            <a:avLst/>
          </a:prstGeom>
          <a:noFill/>
          <a:ln/>
        </p:spPr>
        <p:txBody>
          <a:bodyPr wrap="square" lIns="0" tIns="0" rIns="0" bIns="0" rtlCol="0" anchor="ctr"/>
          <a:lstStyle/>
          <a:p>
            <a:pPr marL="0" indent="0">
              <a:buNone/>
            </a:pPr>
            <a:r>
              <a:rPr lang="en-US" sz="700" b="1" kern="0" spc="150" dirty="0">
                <a:solidFill>
                  <a:srgbClr val="F4A261"/>
                </a:solidFill>
                <a:latin typeface="Calibri" pitchFamily="34" charset="0"/>
                <a:ea typeface="Calibri" pitchFamily="34" charset="-122"/>
                <a:cs typeface="Calibri" pitchFamily="34" charset="-120"/>
              </a:rPr>
              <a:t>MONITOR</a:t>
            </a:r>
            <a:endParaRPr lang="en-US" sz="700" dirty="0"/>
          </a:p>
        </p:txBody>
      </p:sp>
      <p:sp>
        <p:nvSpPr>
          <p:cNvPr id="24" name="Text 22"/>
          <p:cNvSpPr/>
          <p:nvPr/>
        </p:nvSpPr>
        <p:spPr>
          <a:xfrm>
            <a:off x="438912" y="5678424"/>
            <a:ext cx="5852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Improve PhoneScore coverage</a:t>
            </a:r>
            <a:endParaRPr lang="en-US" sz="1100" dirty="0"/>
          </a:p>
        </p:txBody>
      </p:sp>
      <p:sp>
        <p:nvSpPr>
          <p:cNvPr id="25" name="Text 23"/>
          <p:cNvSpPr/>
          <p:nvPr/>
        </p:nvSpPr>
        <p:spPr>
          <a:xfrm>
            <a:off x="438912" y="5943600"/>
            <a:ext cx="5852160" cy="777240"/>
          </a:xfrm>
          <a:prstGeom prst="rect">
            <a:avLst/>
          </a:prstGeom>
          <a:noFill/>
          <a:ln/>
        </p:spPr>
        <p:txBody>
          <a:bodyPr wrap="square" lIns="0" tIns="0" rIns="0" bIns="0" rtlCol="0" anchor="ctr"/>
          <a:lstStyle/>
          <a:p>
            <a:pPr marL="0" indent="0">
              <a:buNone/>
            </a:pPr>
            <a:r>
              <a:rPr lang="en-US" sz="1200" dirty="0">
                <a:solidFill>
                  <a:srgbClr val="A8C8D0"/>
                </a:solidFill>
                <a:latin typeface="Calibri" pitchFamily="34" charset="0"/>
                <a:ea typeface="Calibri" pitchFamily="34" charset="-122"/>
                <a:cs typeface="Calibri" pitchFamily="34" charset="-120"/>
              </a:rPr>
              <a:t>Score 5 is the strongest individual signal (16.2%, p=0.0007) but covers only 46% of leads. Expanding coverage would unlock Route ② at scale.</a:t>
            </a:r>
            <a:endParaRPr lang="en-US" sz="1200" dirty="0"/>
          </a:p>
        </p:txBody>
      </p:sp>
      <p:sp>
        <p:nvSpPr>
          <p:cNvPr id="26" name="Shape 24"/>
          <p:cNvSpPr/>
          <p:nvPr/>
        </p:nvSpPr>
        <p:spPr>
          <a:xfrm>
            <a:off x="320040" y="6931152"/>
            <a:ext cx="6217920" cy="1389888"/>
          </a:xfrm>
          <a:prstGeom prst="rect">
            <a:avLst/>
          </a:prstGeom>
          <a:solidFill>
            <a:srgbClr val="0D2035"/>
          </a:solidFill>
          <a:ln/>
          <a:effectLst>
            <a:outerShdw blurRad="50800" dist="25400" dir="8100000" algn="bl" rotWithShape="0">
              <a:srgbClr val="000000">
                <a:alpha val="20000"/>
              </a:srgbClr>
            </a:outerShdw>
          </a:effectLst>
        </p:spPr>
        <p:txBody>
          <a:bodyPr/>
          <a:lstStyle/>
          <a:p>
            <a:endParaRPr lang="en-US"/>
          </a:p>
        </p:txBody>
      </p:sp>
      <p:sp>
        <p:nvSpPr>
          <p:cNvPr id="27" name="Shape 25"/>
          <p:cNvSpPr/>
          <p:nvPr/>
        </p:nvSpPr>
        <p:spPr>
          <a:xfrm>
            <a:off x="320040" y="6931152"/>
            <a:ext cx="54864" cy="1389888"/>
          </a:xfrm>
          <a:prstGeom prst="rect">
            <a:avLst/>
          </a:prstGeom>
          <a:solidFill>
            <a:srgbClr val="8899A6"/>
          </a:solidFill>
          <a:ln w="12700">
            <a:solidFill>
              <a:srgbClr val="8899A6"/>
            </a:solidFill>
            <a:prstDash val="solid"/>
          </a:ln>
        </p:spPr>
        <p:txBody>
          <a:bodyPr/>
          <a:lstStyle/>
          <a:p>
            <a:endParaRPr lang="en-US"/>
          </a:p>
        </p:txBody>
      </p:sp>
      <p:sp>
        <p:nvSpPr>
          <p:cNvPr id="28" name="Text 26"/>
          <p:cNvSpPr/>
          <p:nvPr/>
        </p:nvSpPr>
        <p:spPr>
          <a:xfrm>
            <a:off x="438912" y="7004304"/>
            <a:ext cx="1005840" cy="182880"/>
          </a:xfrm>
          <a:prstGeom prst="rect">
            <a:avLst/>
          </a:prstGeom>
          <a:noFill/>
          <a:ln/>
        </p:spPr>
        <p:txBody>
          <a:bodyPr wrap="square" lIns="0" tIns="0" rIns="0" bIns="0" rtlCol="0" anchor="ctr"/>
          <a:lstStyle/>
          <a:p>
            <a:pPr marL="0" indent="0">
              <a:buNone/>
            </a:pPr>
            <a:r>
              <a:rPr lang="en-US" sz="700" b="1" kern="0" spc="150" dirty="0">
                <a:solidFill>
                  <a:srgbClr val="8899A6"/>
                </a:solidFill>
                <a:latin typeface="Calibri" pitchFamily="34" charset="0"/>
                <a:ea typeface="Calibri" pitchFamily="34" charset="-122"/>
                <a:cs typeface="Calibri" pitchFamily="34" charset="-120"/>
              </a:rPr>
              <a:t>INVESTIGATE</a:t>
            </a:r>
            <a:endParaRPr lang="en-US" sz="700" dirty="0"/>
          </a:p>
        </p:txBody>
      </p:sp>
      <p:sp>
        <p:nvSpPr>
          <p:cNvPr id="29" name="Text 27"/>
          <p:cNvSpPr/>
          <p:nvPr/>
        </p:nvSpPr>
        <p:spPr>
          <a:xfrm>
            <a:off x="438912" y="7187184"/>
            <a:ext cx="58521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Investigate $7.5k–$15k anomaly</a:t>
            </a:r>
            <a:endParaRPr lang="en-US" sz="1100" dirty="0"/>
          </a:p>
        </p:txBody>
      </p:sp>
      <p:sp>
        <p:nvSpPr>
          <p:cNvPr id="30" name="Text 28"/>
          <p:cNvSpPr/>
          <p:nvPr/>
        </p:nvSpPr>
        <p:spPr>
          <a:xfrm>
            <a:off x="438912" y="7452360"/>
            <a:ext cx="5852160" cy="777240"/>
          </a:xfrm>
          <a:prstGeom prst="rect">
            <a:avLst/>
          </a:prstGeom>
          <a:noFill/>
          <a:ln/>
        </p:spPr>
        <p:txBody>
          <a:bodyPr wrap="square" lIns="0" tIns="0" rIns="0" bIns="0" rtlCol="0" anchor="ctr"/>
          <a:lstStyle/>
          <a:p>
            <a:pPr marL="0" indent="0">
              <a:buNone/>
            </a:pPr>
            <a:r>
              <a:rPr lang="en-US" sz="1200" dirty="0">
                <a:solidFill>
                  <a:srgbClr val="A8C8D0"/>
                </a:solidFill>
                <a:latin typeface="Calibri" pitchFamily="34" charset="0"/>
                <a:ea typeface="Calibri" pitchFamily="34" charset="-122"/>
                <a:cs typeface="Calibri" pitchFamily="34" charset="-120"/>
              </a:rPr>
              <a:t>Zero PhoneScore coverage in this band suggests a data collection or vendor issue. Worth investigating before using this segment.</a:t>
            </a:r>
            <a:endParaRPr lang="en-US" sz="1200" dirty="0"/>
          </a:p>
        </p:txBody>
      </p:sp>
      <p:sp>
        <p:nvSpPr>
          <p:cNvPr id="31" name="Text 29"/>
          <p:cNvSpPr/>
          <p:nvPr/>
        </p:nvSpPr>
        <p:spPr>
          <a:xfrm>
            <a:off x="6217920" y="8915400"/>
            <a:ext cx="457200" cy="228600"/>
          </a:xfrm>
          <a:prstGeom prst="rect">
            <a:avLst/>
          </a:prstGeom>
          <a:noFill/>
          <a:ln/>
        </p:spPr>
        <p:txBody>
          <a:bodyPr wrap="square" lIns="0" tIns="0" rIns="0" bIns="0" rtlCol="0" anchor="ctr"/>
          <a:lstStyle/>
          <a:p>
            <a:pPr marL="0" indent="0" algn="ctr">
              <a:buNone/>
            </a:pPr>
            <a:r>
              <a:rPr lang="en-US" sz="800" dirty="0">
                <a:solidFill>
                  <a:srgbClr val="FFFFFF"/>
                </a:solidFill>
              </a:rPr>
              <a:t>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3190</Words>
  <Application>Microsoft Macintosh PowerPoint</Application>
  <PresentationFormat>On-screen Show (4:3)</PresentationFormat>
  <Paragraphs>306</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Zhu, Xiaoai</cp:lastModifiedBy>
  <cp:revision>9</cp:revision>
  <dcterms:created xsi:type="dcterms:W3CDTF">2026-03-06T06:37:40Z</dcterms:created>
  <dcterms:modified xsi:type="dcterms:W3CDTF">2026-03-06T08:13:23Z</dcterms:modified>
</cp:coreProperties>
</file>